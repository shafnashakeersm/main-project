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Poppins Bold" charset="1" panose="00000800000000000000"/>
      <p:regular r:id="rId32"/>
    </p:embeddedFont>
    <p:embeddedFont>
      <p:font typeface="Poppins" charset="1" panose="00000500000000000000"/>
      <p:regular r:id="rId33"/>
    </p:embeddedFont>
    <p:embeddedFont>
      <p:font typeface="Lato" charset="1" panose="020F0502020204030203"/>
      <p:regular r:id="rId34"/>
    </p:embeddedFont>
    <p:embeddedFont>
      <p:font typeface="Canva Sans Bold" charset="1" panose="020B0803030501040103"/>
      <p:regular r:id="rId35"/>
    </p:embeddedFont>
    <p:embeddedFont>
      <p:font typeface="Lato Bold" charset="1" panose="020F0502020204030203"/>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https://fisat.ac.in/wp-content/uploads/2022/07/DSC02156-scaled-e1707299276592.jpg"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1.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1.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4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42.png" Type="http://schemas.openxmlformats.org/officeDocument/2006/relationships/image"/><Relationship Id="rId5" Target="../media/image4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4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4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4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7.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5651837" y="289333"/>
            <a:ext cx="12112509" cy="8707633"/>
          </a:xfrm>
          <a:custGeom>
            <a:avLst/>
            <a:gdLst/>
            <a:ahLst/>
            <a:cxnLst/>
            <a:rect r="r" b="b" t="t" l="l"/>
            <a:pathLst>
              <a:path h="8707633" w="12112509">
                <a:moveTo>
                  <a:pt x="0" y="0"/>
                </a:moveTo>
                <a:lnTo>
                  <a:pt x="12112509" y="0"/>
                </a:lnTo>
                <a:lnTo>
                  <a:pt x="12112509" y="8707633"/>
                </a:lnTo>
                <a:lnTo>
                  <a:pt x="0" y="8707633"/>
                </a:lnTo>
                <a:lnTo>
                  <a:pt x="0" y="0"/>
                </a:lnTo>
                <a:close/>
              </a:path>
            </a:pathLst>
          </a:custGeom>
          <a:blipFill>
            <a:blip r:embed="rId2"/>
            <a:stretch>
              <a:fillRect l="0" t="-501" r="0" b="0"/>
            </a:stretch>
          </a:blipFill>
        </p:spPr>
      </p:sp>
      <p:sp>
        <p:nvSpPr>
          <p:cNvPr name="Freeform 3" id="3"/>
          <p:cNvSpPr/>
          <p:nvPr/>
        </p:nvSpPr>
        <p:spPr>
          <a:xfrm flipH="false" flipV="false" rot="0">
            <a:off x="243093" y="3224467"/>
            <a:ext cx="528429" cy="528429"/>
          </a:xfrm>
          <a:custGeom>
            <a:avLst/>
            <a:gdLst/>
            <a:ahLst/>
            <a:cxnLst/>
            <a:rect r="r" b="b" t="t" l="l"/>
            <a:pathLst>
              <a:path h="528429" w="528429">
                <a:moveTo>
                  <a:pt x="0" y="0"/>
                </a:moveTo>
                <a:lnTo>
                  <a:pt x="528429" y="0"/>
                </a:lnTo>
                <a:lnTo>
                  <a:pt x="528429" y="528430"/>
                </a:lnTo>
                <a:lnTo>
                  <a:pt x="0" y="5284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928665" y="2696284"/>
            <a:ext cx="19437109" cy="2996174"/>
          </a:xfrm>
          <a:prstGeom prst="rect">
            <a:avLst/>
          </a:prstGeom>
        </p:spPr>
        <p:txBody>
          <a:bodyPr anchor="t" rtlCol="false" tIns="0" lIns="0" bIns="0" rIns="0">
            <a:spAutoFit/>
          </a:bodyPr>
          <a:lstStyle/>
          <a:p>
            <a:pPr algn="l">
              <a:lnSpc>
                <a:spcPts val="11359"/>
              </a:lnSpc>
            </a:pPr>
            <a:r>
              <a:rPr lang="en-US" sz="10326" b="true">
                <a:solidFill>
                  <a:srgbClr val="FBF9F1"/>
                </a:solidFill>
                <a:latin typeface="Poppins Bold"/>
                <a:ea typeface="Poppins Bold"/>
                <a:cs typeface="Poppins Bold"/>
                <a:sym typeface="Poppins Bold"/>
              </a:rPr>
              <a:t>FISAT GATEWAY</a:t>
            </a:r>
          </a:p>
          <a:p>
            <a:pPr algn="l">
              <a:lnSpc>
                <a:spcPts val="11359"/>
              </a:lnSpc>
            </a:pPr>
            <a:r>
              <a:rPr lang="en-US" sz="10326" b="true">
                <a:solidFill>
                  <a:srgbClr val="FBF9F1"/>
                </a:solidFill>
                <a:latin typeface="Poppins Bold"/>
                <a:ea typeface="Poppins Bold"/>
                <a:cs typeface="Poppins Bold"/>
                <a:sym typeface="Poppins Bold"/>
              </a:rPr>
              <a:t>MANAGEMENT SYSTEM</a:t>
            </a:r>
          </a:p>
        </p:txBody>
      </p:sp>
      <p:sp>
        <p:nvSpPr>
          <p:cNvPr name="Freeform 5" id="5"/>
          <p:cNvSpPr/>
          <p:nvPr/>
        </p:nvSpPr>
        <p:spPr>
          <a:xfrm flipH="false" flipV="false" rot="0">
            <a:off x="928665"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928665" y="5844324"/>
            <a:ext cx="7762921" cy="1128395"/>
          </a:xfrm>
          <a:prstGeom prst="rect">
            <a:avLst/>
          </a:prstGeom>
        </p:spPr>
        <p:txBody>
          <a:bodyPr anchor="t" rtlCol="false" tIns="0" lIns="0" bIns="0" rIns="0">
            <a:spAutoFit/>
          </a:bodyPr>
          <a:lstStyle/>
          <a:p>
            <a:pPr algn="l">
              <a:lnSpc>
                <a:spcPts val="4480"/>
              </a:lnSpc>
            </a:pPr>
            <a:r>
              <a:rPr lang="en-US" sz="3200">
                <a:solidFill>
                  <a:srgbClr val="E5E1DA"/>
                </a:solidFill>
                <a:latin typeface="Poppins"/>
                <a:ea typeface="Poppins"/>
                <a:cs typeface="Poppins"/>
                <a:sym typeface="Poppins"/>
              </a:rPr>
              <a:t>Present by Shafna Shakeer S M</a:t>
            </a:r>
          </a:p>
          <a:p>
            <a:pPr algn="l">
              <a:lnSpc>
                <a:spcPts val="4480"/>
              </a:lnSpc>
              <a:spcBef>
                <a:spcPct val="0"/>
              </a:spcBef>
            </a:pPr>
            <a:r>
              <a:rPr lang="en-US" sz="3200">
                <a:solidFill>
                  <a:srgbClr val="E5E1DA"/>
                </a:solidFill>
                <a:latin typeface="Poppins"/>
                <a:ea typeface="Poppins"/>
                <a:cs typeface="Poppins"/>
                <a:sym typeface="Poppins"/>
              </a:rPr>
              <a:t>S4 MCA B Batch</a:t>
            </a:r>
          </a:p>
        </p:txBody>
      </p:sp>
      <p:sp>
        <p:nvSpPr>
          <p:cNvPr name="TextBox 7" id="7"/>
          <p:cNvSpPr txBox="true"/>
          <p:nvPr/>
        </p:nvSpPr>
        <p:spPr>
          <a:xfrm rot="0">
            <a:off x="1529481" y="9244648"/>
            <a:ext cx="7162105" cy="398780"/>
          </a:xfrm>
          <a:prstGeom prst="rect">
            <a:avLst/>
          </a:prstGeom>
        </p:spPr>
        <p:txBody>
          <a:bodyPr anchor="t" rtlCol="false" tIns="0" lIns="0" bIns="0" rIns="0">
            <a:spAutoFit/>
          </a:bodyPr>
          <a:lstStyle/>
          <a:p>
            <a:pPr algn="l">
              <a:lnSpc>
                <a:spcPts val="3220"/>
              </a:lnSpc>
              <a:spcBef>
                <a:spcPct val="0"/>
              </a:spcBef>
            </a:pPr>
            <a:r>
              <a:rPr lang="en-US" sz="2300">
                <a:solidFill>
                  <a:srgbClr val="E5E1DA"/>
                </a:solidFill>
                <a:latin typeface="Lato"/>
                <a:ea typeface="Lato"/>
                <a:cs typeface="Lato"/>
                <a:sym typeface="Lato"/>
              </a:rPr>
              <a:t>https://github.com/shafnashakeersm/Main-Project</a:t>
            </a:r>
          </a:p>
        </p:txBody>
      </p:sp>
      <p:sp>
        <p:nvSpPr>
          <p:cNvPr name="TextBox 8" id="8"/>
          <p:cNvSpPr txBox="true"/>
          <p:nvPr/>
        </p:nvSpPr>
        <p:spPr>
          <a:xfrm rot="0">
            <a:off x="14396053" y="9262806"/>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1542318">
            <a:off x="12037037" y="-954371"/>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2"/>
            <a:stretch>
              <a:fillRect l="0" t="0" r="0" b="0"/>
            </a:stretch>
          </a:blipFill>
        </p:spPr>
      </p:sp>
      <p:grpSp>
        <p:nvGrpSpPr>
          <p:cNvPr name="Group 3" id="3"/>
          <p:cNvGrpSpPr/>
          <p:nvPr/>
        </p:nvGrpSpPr>
        <p:grpSpPr>
          <a:xfrm rot="0">
            <a:off x="1028700" y="3160429"/>
            <a:ext cx="12633013" cy="6232551"/>
            <a:chOff x="0" y="0"/>
            <a:chExt cx="3327213" cy="1641495"/>
          </a:xfrm>
        </p:grpSpPr>
        <p:sp>
          <p:nvSpPr>
            <p:cNvPr name="Freeform 4" id="4"/>
            <p:cNvSpPr/>
            <p:nvPr/>
          </p:nvSpPr>
          <p:spPr>
            <a:xfrm flipH="false" flipV="false" rot="0">
              <a:off x="0" y="0"/>
              <a:ext cx="3327213" cy="1641495"/>
            </a:xfrm>
            <a:custGeom>
              <a:avLst/>
              <a:gdLst/>
              <a:ahLst/>
              <a:cxnLst/>
              <a:rect r="r" b="b" t="t" l="l"/>
              <a:pathLst>
                <a:path h="1641495" w="3327213">
                  <a:moveTo>
                    <a:pt x="12257" y="0"/>
                  </a:moveTo>
                  <a:lnTo>
                    <a:pt x="3314957" y="0"/>
                  </a:lnTo>
                  <a:cubicBezTo>
                    <a:pt x="3318207" y="0"/>
                    <a:pt x="3321325" y="1291"/>
                    <a:pt x="3323623" y="3590"/>
                  </a:cubicBezTo>
                  <a:cubicBezTo>
                    <a:pt x="3325922" y="5888"/>
                    <a:pt x="3327213" y="9006"/>
                    <a:pt x="3327213" y="12257"/>
                  </a:cubicBezTo>
                  <a:lnTo>
                    <a:pt x="3327213" y="1629238"/>
                  </a:lnTo>
                  <a:cubicBezTo>
                    <a:pt x="3327213" y="1632489"/>
                    <a:pt x="3325922" y="1635607"/>
                    <a:pt x="3323623" y="1637905"/>
                  </a:cubicBezTo>
                  <a:cubicBezTo>
                    <a:pt x="3321325" y="1640204"/>
                    <a:pt x="3318207" y="1641495"/>
                    <a:pt x="3314957" y="1641495"/>
                  </a:cubicBezTo>
                  <a:lnTo>
                    <a:pt x="12257" y="1641495"/>
                  </a:lnTo>
                  <a:cubicBezTo>
                    <a:pt x="9006" y="1641495"/>
                    <a:pt x="5888" y="1640204"/>
                    <a:pt x="3590" y="1637905"/>
                  </a:cubicBezTo>
                  <a:cubicBezTo>
                    <a:pt x="1291" y="1635607"/>
                    <a:pt x="0" y="1632489"/>
                    <a:pt x="0" y="1629238"/>
                  </a:cubicBezTo>
                  <a:lnTo>
                    <a:pt x="0" y="12257"/>
                  </a:lnTo>
                  <a:cubicBezTo>
                    <a:pt x="0" y="9006"/>
                    <a:pt x="1291" y="5888"/>
                    <a:pt x="3590" y="3590"/>
                  </a:cubicBezTo>
                  <a:cubicBezTo>
                    <a:pt x="5888" y="1291"/>
                    <a:pt x="9006" y="0"/>
                    <a:pt x="12257" y="0"/>
                  </a:cubicBezTo>
                  <a:close/>
                </a:path>
              </a:pathLst>
            </a:custGeom>
            <a:solidFill>
              <a:srgbClr val="000000"/>
            </a:solidFill>
            <a:ln w="38100" cap="sq">
              <a:solidFill>
                <a:srgbClr val="E5E1DA"/>
              </a:solidFill>
              <a:prstDash val="solid"/>
              <a:miter/>
            </a:ln>
          </p:spPr>
        </p:sp>
        <p:sp>
          <p:nvSpPr>
            <p:cNvPr name="TextBox 5" id="5"/>
            <p:cNvSpPr txBox="true"/>
            <p:nvPr/>
          </p:nvSpPr>
          <p:spPr>
            <a:xfrm>
              <a:off x="0" y="-38100"/>
              <a:ext cx="3327213" cy="1679595"/>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147874" y="7962921"/>
            <a:ext cx="5747719" cy="3384081"/>
          </a:xfrm>
          <a:custGeom>
            <a:avLst/>
            <a:gdLst/>
            <a:ahLst/>
            <a:cxnLst/>
            <a:rect r="r" b="b" t="t" l="l"/>
            <a:pathLst>
              <a:path h="3384081" w="5747719">
                <a:moveTo>
                  <a:pt x="0" y="0"/>
                </a:moveTo>
                <a:lnTo>
                  <a:pt x="5747719" y="0"/>
                </a:lnTo>
                <a:lnTo>
                  <a:pt x="5747719" y="3384080"/>
                </a:lnTo>
                <a:lnTo>
                  <a:pt x="0" y="3384080"/>
                </a:lnTo>
                <a:lnTo>
                  <a:pt x="0" y="0"/>
                </a:lnTo>
                <a:close/>
              </a:path>
            </a:pathLst>
          </a:custGeom>
          <a:blipFill>
            <a:blip r:embed="rId3"/>
            <a:stretch>
              <a:fillRect l="-18302" t="0" r="0" b="-143185"/>
            </a:stretch>
          </a:blipFill>
        </p:spPr>
      </p:sp>
      <p:sp>
        <p:nvSpPr>
          <p:cNvPr name="Freeform 7" id="7"/>
          <p:cNvSpPr/>
          <p:nvPr/>
        </p:nvSpPr>
        <p:spPr>
          <a:xfrm flipH="false" flipV="false" rot="0">
            <a:off x="725985" y="1419135"/>
            <a:ext cx="675847" cy="675847"/>
          </a:xfrm>
          <a:custGeom>
            <a:avLst/>
            <a:gdLst/>
            <a:ahLst/>
            <a:cxnLst/>
            <a:rect r="r" b="b" t="t" l="l"/>
            <a:pathLst>
              <a:path h="675847" w="675847">
                <a:moveTo>
                  <a:pt x="0" y="0"/>
                </a:moveTo>
                <a:lnTo>
                  <a:pt x="675848" y="0"/>
                </a:lnTo>
                <a:lnTo>
                  <a:pt x="675848" y="675848"/>
                </a:lnTo>
                <a:lnTo>
                  <a:pt x="0" y="675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530195" y="1268765"/>
            <a:ext cx="6829356" cy="986114"/>
          </a:xfrm>
          <a:prstGeom prst="rect">
            <a:avLst/>
          </a:prstGeom>
        </p:spPr>
        <p:txBody>
          <a:bodyPr anchor="t" rtlCol="false" tIns="0" lIns="0" bIns="0" rIns="0">
            <a:spAutoFit/>
          </a:bodyPr>
          <a:lstStyle/>
          <a:p>
            <a:pPr algn="l">
              <a:lnSpc>
                <a:spcPts val="7229"/>
              </a:lnSpc>
            </a:pPr>
            <a:r>
              <a:rPr lang="en-US" sz="6572" b="true">
                <a:solidFill>
                  <a:srgbClr val="FBF9F1"/>
                </a:solidFill>
                <a:latin typeface="Poppins Bold"/>
                <a:ea typeface="Poppins Bold"/>
                <a:cs typeface="Poppins Bold"/>
                <a:sym typeface="Poppins Bold"/>
              </a:rPr>
              <a:t>CONTENTS</a:t>
            </a:r>
          </a:p>
        </p:txBody>
      </p:sp>
      <p:sp>
        <p:nvSpPr>
          <p:cNvPr name="TextBox 9" id="9"/>
          <p:cNvSpPr txBox="true"/>
          <p:nvPr/>
        </p:nvSpPr>
        <p:spPr>
          <a:xfrm rot="0">
            <a:off x="2224052" y="3934895"/>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Introduction</a:t>
            </a:r>
          </a:p>
        </p:txBody>
      </p:sp>
      <p:sp>
        <p:nvSpPr>
          <p:cNvPr name="TextBox 10" id="10"/>
          <p:cNvSpPr txBox="true"/>
          <p:nvPr/>
        </p:nvSpPr>
        <p:spPr>
          <a:xfrm rot="0">
            <a:off x="1525526" y="3934895"/>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1</a:t>
            </a:r>
          </a:p>
        </p:txBody>
      </p:sp>
      <p:sp>
        <p:nvSpPr>
          <p:cNvPr name="TextBox 11" id="11"/>
          <p:cNvSpPr txBox="true"/>
          <p:nvPr/>
        </p:nvSpPr>
        <p:spPr>
          <a:xfrm rot="0">
            <a:off x="2224052" y="5073670"/>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Objectives</a:t>
            </a:r>
          </a:p>
        </p:txBody>
      </p:sp>
      <p:sp>
        <p:nvSpPr>
          <p:cNvPr name="TextBox 12" id="12"/>
          <p:cNvSpPr txBox="true"/>
          <p:nvPr/>
        </p:nvSpPr>
        <p:spPr>
          <a:xfrm rot="0">
            <a:off x="1525526" y="5073670"/>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2</a:t>
            </a:r>
          </a:p>
        </p:txBody>
      </p:sp>
      <p:sp>
        <p:nvSpPr>
          <p:cNvPr name="TextBox 13" id="13"/>
          <p:cNvSpPr txBox="true"/>
          <p:nvPr/>
        </p:nvSpPr>
        <p:spPr>
          <a:xfrm rot="0">
            <a:off x="2224052" y="6210320"/>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Modules</a:t>
            </a:r>
          </a:p>
        </p:txBody>
      </p:sp>
      <p:sp>
        <p:nvSpPr>
          <p:cNvPr name="TextBox 14" id="14"/>
          <p:cNvSpPr txBox="true"/>
          <p:nvPr/>
        </p:nvSpPr>
        <p:spPr>
          <a:xfrm rot="0">
            <a:off x="1525526" y="6210320"/>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3</a:t>
            </a:r>
          </a:p>
        </p:txBody>
      </p:sp>
      <p:sp>
        <p:nvSpPr>
          <p:cNvPr name="TextBox 15" id="15"/>
          <p:cNvSpPr txBox="true"/>
          <p:nvPr/>
        </p:nvSpPr>
        <p:spPr>
          <a:xfrm rot="0">
            <a:off x="2224052" y="7346970"/>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Suggested Modifications</a:t>
            </a:r>
          </a:p>
        </p:txBody>
      </p:sp>
      <p:sp>
        <p:nvSpPr>
          <p:cNvPr name="TextBox 16" id="16"/>
          <p:cNvSpPr txBox="true"/>
          <p:nvPr/>
        </p:nvSpPr>
        <p:spPr>
          <a:xfrm rot="0">
            <a:off x="1525526" y="7346970"/>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4</a:t>
            </a:r>
          </a:p>
        </p:txBody>
      </p:sp>
      <p:sp>
        <p:nvSpPr>
          <p:cNvPr name="TextBox 17" id="17"/>
          <p:cNvSpPr txBox="true"/>
          <p:nvPr/>
        </p:nvSpPr>
        <p:spPr>
          <a:xfrm rot="0">
            <a:off x="2224052" y="8483621"/>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System Flow Diagram</a:t>
            </a:r>
          </a:p>
        </p:txBody>
      </p:sp>
      <p:sp>
        <p:nvSpPr>
          <p:cNvPr name="TextBox 18" id="18"/>
          <p:cNvSpPr txBox="true"/>
          <p:nvPr/>
        </p:nvSpPr>
        <p:spPr>
          <a:xfrm rot="0">
            <a:off x="1525526" y="8483621"/>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5</a:t>
            </a:r>
          </a:p>
        </p:txBody>
      </p:sp>
      <p:sp>
        <p:nvSpPr>
          <p:cNvPr name="TextBox 19" id="19"/>
          <p:cNvSpPr txBox="true"/>
          <p:nvPr/>
        </p:nvSpPr>
        <p:spPr>
          <a:xfrm rot="0">
            <a:off x="9367326" y="4908550"/>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Conclusion</a:t>
            </a:r>
          </a:p>
        </p:txBody>
      </p:sp>
      <p:sp>
        <p:nvSpPr>
          <p:cNvPr name="TextBox 20" id="20"/>
          <p:cNvSpPr txBox="true"/>
          <p:nvPr/>
        </p:nvSpPr>
        <p:spPr>
          <a:xfrm rot="0">
            <a:off x="8699441" y="3934895"/>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6</a:t>
            </a:r>
          </a:p>
        </p:txBody>
      </p:sp>
      <p:sp>
        <p:nvSpPr>
          <p:cNvPr name="TextBox 21" id="21"/>
          <p:cNvSpPr txBox="true"/>
          <p:nvPr/>
        </p:nvSpPr>
        <p:spPr>
          <a:xfrm rot="0">
            <a:off x="9367326" y="5835670"/>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References</a:t>
            </a:r>
          </a:p>
        </p:txBody>
      </p:sp>
      <p:sp>
        <p:nvSpPr>
          <p:cNvPr name="TextBox 22" id="22"/>
          <p:cNvSpPr txBox="true"/>
          <p:nvPr/>
        </p:nvSpPr>
        <p:spPr>
          <a:xfrm rot="0">
            <a:off x="8699441" y="4886345"/>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7</a:t>
            </a:r>
          </a:p>
        </p:txBody>
      </p:sp>
      <p:sp>
        <p:nvSpPr>
          <p:cNvPr name="TextBox 23" id="23"/>
          <p:cNvSpPr txBox="true"/>
          <p:nvPr/>
        </p:nvSpPr>
        <p:spPr>
          <a:xfrm rot="0">
            <a:off x="9367326" y="3934895"/>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Screenshots</a:t>
            </a:r>
          </a:p>
        </p:txBody>
      </p:sp>
      <p:sp>
        <p:nvSpPr>
          <p:cNvPr name="TextBox 24" id="24"/>
          <p:cNvSpPr txBox="true"/>
          <p:nvPr/>
        </p:nvSpPr>
        <p:spPr>
          <a:xfrm rot="0">
            <a:off x="8699441" y="5854430"/>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8</a:t>
            </a:r>
          </a:p>
        </p:txBody>
      </p:sp>
      <p:sp>
        <p:nvSpPr>
          <p:cNvPr name="TextBox 25" id="25"/>
          <p:cNvSpPr txBox="true"/>
          <p:nvPr/>
        </p:nvSpPr>
        <p:spPr>
          <a:xfrm rot="0">
            <a:off x="14548453" y="9415206"/>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1383875" y="0"/>
            <a:ext cx="6904125" cy="10287000"/>
            <a:chOff x="0" y="0"/>
            <a:chExt cx="950116" cy="1415652"/>
          </a:xfrm>
        </p:grpSpPr>
        <p:sp>
          <p:nvSpPr>
            <p:cNvPr name="Freeform 3" id="3"/>
            <p:cNvSpPr/>
            <p:nvPr/>
          </p:nvSpPr>
          <p:spPr>
            <a:xfrm flipH="true" flipV="false" rot="0">
              <a:off x="0" y="0"/>
              <a:ext cx="950116" cy="1415652"/>
            </a:xfrm>
            <a:custGeom>
              <a:avLst/>
              <a:gdLst/>
              <a:ahLst/>
              <a:cxnLst/>
              <a:rect r="r" b="b" t="t" l="l"/>
              <a:pathLst>
                <a:path h="1415652" w="950116">
                  <a:moveTo>
                    <a:pt x="950116" y="0"/>
                  </a:moveTo>
                  <a:lnTo>
                    <a:pt x="0" y="0"/>
                  </a:lnTo>
                  <a:lnTo>
                    <a:pt x="0" y="1415652"/>
                  </a:lnTo>
                  <a:lnTo>
                    <a:pt x="950116" y="1415652"/>
                  </a:lnTo>
                  <a:close/>
                </a:path>
              </a:pathLst>
            </a:custGeom>
            <a:blipFill>
              <a:blip r:embed="rId2"/>
              <a:stretch>
                <a:fillRect l="-67078" t="0" r="-166810" b="0"/>
              </a:stretch>
            </a:blipFill>
            <a:ln cap="sq">
              <a:noFill/>
              <a:prstDash val="solid"/>
              <a:miter/>
            </a:ln>
          </p:spPr>
        </p:sp>
      </p:grpSp>
      <p:grpSp>
        <p:nvGrpSpPr>
          <p:cNvPr name="Group 4" id="4"/>
          <p:cNvGrpSpPr/>
          <p:nvPr/>
        </p:nvGrpSpPr>
        <p:grpSpPr>
          <a:xfrm rot="0">
            <a:off x="1028700" y="1482999"/>
            <a:ext cx="12577332" cy="8137251"/>
            <a:chOff x="0" y="0"/>
            <a:chExt cx="3312548" cy="2143144"/>
          </a:xfrm>
        </p:grpSpPr>
        <p:sp>
          <p:nvSpPr>
            <p:cNvPr name="Freeform 5" id="5"/>
            <p:cNvSpPr/>
            <p:nvPr/>
          </p:nvSpPr>
          <p:spPr>
            <a:xfrm flipH="false" flipV="false" rot="0">
              <a:off x="0" y="0"/>
              <a:ext cx="3312549" cy="2143144"/>
            </a:xfrm>
            <a:custGeom>
              <a:avLst/>
              <a:gdLst/>
              <a:ahLst/>
              <a:cxnLst/>
              <a:rect r="r" b="b" t="t" l="l"/>
              <a:pathLst>
                <a:path h="2143144" w="3312549">
                  <a:moveTo>
                    <a:pt x="12311" y="0"/>
                  </a:moveTo>
                  <a:lnTo>
                    <a:pt x="3300238" y="0"/>
                  </a:lnTo>
                  <a:cubicBezTo>
                    <a:pt x="3307037" y="0"/>
                    <a:pt x="3312549" y="5512"/>
                    <a:pt x="3312549" y="12311"/>
                  </a:cubicBezTo>
                  <a:lnTo>
                    <a:pt x="3312549" y="2130834"/>
                  </a:lnTo>
                  <a:cubicBezTo>
                    <a:pt x="3312549" y="2134099"/>
                    <a:pt x="3311251" y="2137230"/>
                    <a:pt x="3308943" y="2139539"/>
                  </a:cubicBezTo>
                  <a:cubicBezTo>
                    <a:pt x="3306634" y="2141847"/>
                    <a:pt x="3303503" y="2143144"/>
                    <a:pt x="3300238" y="2143144"/>
                  </a:cubicBezTo>
                  <a:lnTo>
                    <a:pt x="12311" y="2143144"/>
                  </a:lnTo>
                  <a:cubicBezTo>
                    <a:pt x="9046" y="2143144"/>
                    <a:pt x="5915" y="2141847"/>
                    <a:pt x="3606" y="2139539"/>
                  </a:cubicBezTo>
                  <a:cubicBezTo>
                    <a:pt x="1297" y="2137230"/>
                    <a:pt x="0" y="2134099"/>
                    <a:pt x="0" y="2130834"/>
                  </a:cubicBezTo>
                  <a:lnTo>
                    <a:pt x="0" y="12311"/>
                  </a:lnTo>
                  <a:cubicBezTo>
                    <a:pt x="0" y="9046"/>
                    <a:pt x="1297" y="5915"/>
                    <a:pt x="3606" y="3606"/>
                  </a:cubicBezTo>
                  <a:cubicBezTo>
                    <a:pt x="5915" y="1297"/>
                    <a:pt x="9046" y="0"/>
                    <a:pt x="12311" y="0"/>
                  </a:cubicBezTo>
                  <a:close/>
                </a:path>
              </a:pathLst>
            </a:custGeom>
            <a:solidFill>
              <a:srgbClr val="000000"/>
            </a:solidFill>
            <a:ln w="38100" cap="sq">
              <a:solidFill>
                <a:srgbClr val="E5E1DA"/>
              </a:solidFill>
              <a:prstDash val="solid"/>
              <a:miter/>
            </a:ln>
          </p:spPr>
        </p:sp>
        <p:sp>
          <p:nvSpPr>
            <p:cNvPr name="TextBox 6" id="6"/>
            <p:cNvSpPr txBox="true"/>
            <p:nvPr/>
          </p:nvSpPr>
          <p:spPr>
            <a:xfrm>
              <a:off x="0" y="-38100"/>
              <a:ext cx="3312548" cy="2181244"/>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true" flipV="false" rot="6626729">
            <a:off x="-8604841" y="1797289"/>
            <a:ext cx="12221289" cy="8822969"/>
          </a:xfrm>
          <a:custGeom>
            <a:avLst/>
            <a:gdLst/>
            <a:ahLst/>
            <a:cxnLst/>
            <a:rect r="r" b="b" t="t" l="l"/>
            <a:pathLst>
              <a:path h="8822969" w="12221289">
                <a:moveTo>
                  <a:pt x="12221289" y="0"/>
                </a:moveTo>
                <a:lnTo>
                  <a:pt x="0" y="0"/>
                </a:lnTo>
                <a:lnTo>
                  <a:pt x="0" y="8822969"/>
                </a:lnTo>
                <a:lnTo>
                  <a:pt x="12221289" y="8822969"/>
                </a:lnTo>
                <a:lnTo>
                  <a:pt x="12221289" y="0"/>
                </a:lnTo>
                <a:close/>
              </a:path>
            </a:pathLst>
          </a:custGeom>
          <a:blipFill>
            <a:blip r:embed="rId3"/>
            <a:stretch>
              <a:fillRect l="0" t="0" r="0" b="0"/>
            </a:stretch>
          </a:blipFill>
        </p:spPr>
      </p:sp>
      <p:sp>
        <p:nvSpPr>
          <p:cNvPr name="Freeform 8" id="8"/>
          <p:cNvSpPr/>
          <p:nvPr/>
        </p:nvSpPr>
        <p:spPr>
          <a:xfrm flipH="false" flipV="false" rot="0">
            <a:off x="10212631" y="378290"/>
            <a:ext cx="650410" cy="650410"/>
          </a:xfrm>
          <a:custGeom>
            <a:avLst/>
            <a:gdLst/>
            <a:ahLst/>
            <a:cxnLst/>
            <a:rect r="r" b="b" t="t" l="l"/>
            <a:pathLst>
              <a:path h="650410" w="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329761" y="1728607"/>
            <a:ext cx="8043479" cy="987425"/>
          </a:xfrm>
          <a:prstGeom prst="rect">
            <a:avLst/>
          </a:prstGeom>
        </p:spPr>
        <p:txBody>
          <a:bodyPr anchor="t" rtlCol="false" tIns="0" lIns="0" bIns="0" rIns="0">
            <a:spAutoFit/>
          </a:bodyPr>
          <a:lstStyle/>
          <a:p>
            <a:pPr algn="l">
              <a:lnSpc>
                <a:spcPts val="7150"/>
              </a:lnSpc>
            </a:pPr>
            <a:r>
              <a:rPr lang="en-US" sz="6500" b="true">
                <a:solidFill>
                  <a:srgbClr val="FBF9F1"/>
                </a:solidFill>
                <a:latin typeface="Poppins Bold"/>
                <a:ea typeface="Poppins Bold"/>
                <a:cs typeface="Poppins Bold"/>
                <a:sym typeface="Poppins Bold"/>
              </a:rPr>
              <a:t>INTRODUCTION</a:t>
            </a:r>
          </a:p>
        </p:txBody>
      </p:sp>
      <p:sp>
        <p:nvSpPr>
          <p:cNvPr name="TextBox 10" id="10"/>
          <p:cNvSpPr txBox="true"/>
          <p:nvPr/>
        </p:nvSpPr>
        <p:spPr>
          <a:xfrm rot="0">
            <a:off x="1329761" y="2835974"/>
            <a:ext cx="11975211" cy="6422326"/>
          </a:xfrm>
          <a:prstGeom prst="rect">
            <a:avLst/>
          </a:prstGeom>
        </p:spPr>
        <p:txBody>
          <a:bodyPr anchor="t" rtlCol="false" tIns="0" lIns="0" bIns="0" rIns="0">
            <a:spAutoFit/>
          </a:bodyPr>
          <a:lstStyle/>
          <a:p>
            <a:pPr algn="l">
              <a:lnSpc>
                <a:spcPts val="2986"/>
              </a:lnSpc>
            </a:pPr>
            <a:r>
              <a:rPr lang="en-US" sz="2133" b="true">
                <a:solidFill>
                  <a:srgbClr val="E5E1DA"/>
                </a:solidFill>
                <a:latin typeface="Lato Bold"/>
                <a:ea typeface="Lato Bold"/>
                <a:cs typeface="Lato Bold"/>
                <a:sym typeface="Lato Bold"/>
              </a:rPr>
              <a:t>The FISAT Gateway Management System is a digital platform designed to enhance student safety and streamline campus entry-exit management. Built using the MERN stack with React.js for the frontend, Node.js and Express.js for the backend, and MongoDB as the database, this system replaces traditional manual record-keeping with an efficient and automated process.</a:t>
            </a:r>
          </a:p>
          <a:p>
            <a:pPr algn="l">
              <a:lnSpc>
                <a:spcPts val="2986"/>
              </a:lnSpc>
            </a:pPr>
          </a:p>
          <a:p>
            <a:pPr algn="l">
              <a:lnSpc>
                <a:spcPts val="2986"/>
              </a:lnSpc>
            </a:pPr>
            <a:r>
              <a:rPr lang="en-US" sz="2133" b="true">
                <a:solidFill>
                  <a:srgbClr val="E5E1DA"/>
                </a:solidFill>
                <a:latin typeface="Lato Bold"/>
                <a:ea typeface="Lato Bold"/>
                <a:cs typeface="Lato Bold"/>
                <a:sym typeface="Lato Bold"/>
              </a:rPr>
              <a:t>In this system, both the men's and women's hostel wardens can add, view, and edit student details. When a student requests to leave the campus, the warden sends a notification message to the student’s parents. Only after receiving parental approval can the warden forward the leave request along with student details to the watchman. The watchman dashboard displays approved student information and allows the watchman to record visitor details, view all visitor logs, and submit a daily report to the admin. The admin has access to all student and visitor records and can perform searches to retrieve specific details as needed.</a:t>
            </a:r>
          </a:p>
          <a:p>
            <a:pPr algn="l">
              <a:lnSpc>
                <a:spcPts val="2986"/>
              </a:lnSpc>
            </a:pPr>
          </a:p>
          <a:p>
            <a:pPr algn="l">
              <a:lnSpc>
                <a:spcPts val="2986"/>
              </a:lnSpc>
            </a:pPr>
            <a:r>
              <a:rPr lang="en-US" sz="2133" b="true">
                <a:solidFill>
                  <a:srgbClr val="E5E1DA"/>
                </a:solidFill>
                <a:latin typeface="Lato Bold"/>
                <a:ea typeface="Lato Bold"/>
                <a:cs typeface="Lato Bold"/>
                <a:sym typeface="Lato Bold"/>
              </a:rPr>
              <a:t>By digitizing the management of student movements and visitor records, this system ensures better security, enhances accountability, and improves communication between wardens, watchmen, parents, and administrators.</a:t>
            </a:r>
          </a:p>
          <a:p>
            <a:pPr algn="l">
              <a:lnSpc>
                <a:spcPts val="2986"/>
              </a:lnSpc>
              <a:spcBef>
                <a:spcPct val="0"/>
              </a:spcBef>
            </a:pPr>
          </a:p>
        </p:txBody>
      </p:sp>
      <p:sp>
        <p:nvSpPr>
          <p:cNvPr name="TextBox 11" id="11"/>
          <p:cNvSpPr txBox="true"/>
          <p:nvPr/>
        </p:nvSpPr>
        <p:spPr>
          <a:xfrm rot="0">
            <a:off x="14700853" y="9567606"/>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5400000">
            <a:off x="4438636" y="4802688"/>
            <a:ext cx="8729104" cy="681625"/>
            <a:chOff x="0" y="0"/>
            <a:chExt cx="2299023" cy="179523"/>
          </a:xfrm>
        </p:grpSpPr>
        <p:sp>
          <p:nvSpPr>
            <p:cNvPr name="Freeform 3" id="3"/>
            <p:cNvSpPr/>
            <p:nvPr/>
          </p:nvSpPr>
          <p:spPr>
            <a:xfrm flipH="false" flipV="false" rot="0">
              <a:off x="0" y="0"/>
              <a:ext cx="2299023" cy="179523"/>
            </a:xfrm>
            <a:custGeom>
              <a:avLst/>
              <a:gdLst/>
              <a:ahLst/>
              <a:cxnLst/>
              <a:rect r="r" b="b" t="t" l="l"/>
              <a:pathLst>
                <a:path h="179523" w="2299023">
                  <a:moveTo>
                    <a:pt x="56762" y="0"/>
                  </a:moveTo>
                  <a:lnTo>
                    <a:pt x="2242261" y="0"/>
                  </a:lnTo>
                  <a:cubicBezTo>
                    <a:pt x="2257315" y="0"/>
                    <a:pt x="2271753" y="5980"/>
                    <a:pt x="2282398" y="16625"/>
                  </a:cubicBezTo>
                  <a:cubicBezTo>
                    <a:pt x="2293043" y="27270"/>
                    <a:pt x="2299023" y="41708"/>
                    <a:pt x="2299023" y="56762"/>
                  </a:cubicBezTo>
                  <a:lnTo>
                    <a:pt x="2299023" y="122760"/>
                  </a:lnTo>
                  <a:cubicBezTo>
                    <a:pt x="2299023" y="137815"/>
                    <a:pt x="2293043" y="152252"/>
                    <a:pt x="2282398" y="162897"/>
                  </a:cubicBezTo>
                  <a:cubicBezTo>
                    <a:pt x="2271753" y="173542"/>
                    <a:pt x="2257315" y="179523"/>
                    <a:pt x="2242261" y="179523"/>
                  </a:cubicBezTo>
                  <a:lnTo>
                    <a:pt x="56762" y="179523"/>
                  </a:lnTo>
                  <a:cubicBezTo>
                    <a:pt x="41708" y="179523"/>
                    <a:pt x="27270" y="173542"/>
                    <a:pt x="16625" y="162897"/>
                  </a:cubicBezTo>
                  <a:cubicBezTo>
                    <a:pt x="5980" y="152252"/>
                    <a:pt x="0" y="137815"/>
                    <a:pt x="0" y="122760"/>
                  </a:cubicBezTo>
                  <a:lnTo>
                    <a:pt x="0" y="56762"/>
                  </a:lnTo>
                  <a:cubicBezTo>
                    <a:pt x="0" y="41708"/>
                    <a:pt x="5980" y="27270"/>
                    <a:pt x="16625" y="16625"/>
                  </a:cubicBezTo>
                  <a:cubicBezTo>
                    <a:pt x="27270" y="5980"/>
                    <a:pt x="41708" y="0"/>
                    <a:pt x="56762" y="0"/>
                  </a:cubicBezTo>
                  <a:close/>
                </a:path>
              </a:pathLst>
            </a:custGeom>
            <a:solidFill>
              <a:srgbClr val="000000">
                <a:alpha val="0"/>
              </a:srgbClr>
            </a:solidFill>
            <a:ln w="38100" cap="rnd">
              <a:solidFill>
                <a:srgbClr val="E5E1DA"/>
              </a:solidFill>
              <a:prstDash val="solid"/>
              <a:round/>
            </a:ln>
          </p:spPr>
        </p:sp>
        <p:sp>
          <p:nvSpPr>
            <p:cNvPr name="TextBox 4" id="4"/>
            <p:cNvSpPr txBox="true"/>
            <p:nvPr/>
          </p:nvSpPr>
          <p:spPr>
            <a:xfrm>
              <a:off x="0" y="-38100"/>
              <a:ext cx="2299023" cy="21762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574588" y="926782"/>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2"/>
            <a:stretch>
              <a:fillRect l="0" t="0" r="0" b="0"/>
            </a:stretch>
          </a:blipFill>
        </p:spPr>
      </p:sp>
      <p:sp>
        <p:nvSpPr>
          <p:cNvPr name="Freeform 6" id="6"/>
          <p:cNvSpPr/>
          <p:nvPr/>
        </p:nvSpPr>
        <p:spPr>
          <a:xfrm flipH="false" flipV="false" rot="0">
            <a:off x="8574588" y="2863618"/>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2"/>
            <a:stretch>
              <a:fillRect l="0" t="0" r="0" b="0"/>
            </a:stretch>
          </a:blipFill>
        </p:spPr>
      </p:sp>
      <p:sp>
        <p:nvSpPr>
          <p:cNvPr name="Freeform 7" id="7"/>
          <p:cNvSpPr/>
          <p:nvPr/>
        </p:nvSpPr>
        <p:spPr>
          <a:xfrm flipH="false" flipV="false" rot="0">
            <a:off x="8574588" y="7175069"/>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2"/>
            <a:stretch>
              <a:fillRect l="0" t="0" r="0" b="0"/>
            </a:stretch>
          </a:blipFill>
        </p:spPr>
      </p:sp>
      <p:sp>
        <p:nvSpPr>
          <p:cNvPr name="Freeform 8" id="8"/>
          <p:cNvSpPr/>
          <p:nvPr/>
        </p:nvSpPr>
        <p:spPr>
          <a:xfrm flipH="false" flipV="false" rot="0">
            <a:off x="1028700" y="8361880"/>
            <a:ext cx="896420" cy="896420"/>
          </a:xfrm>
          <a:custGeom>
            <a:avLst/>
            <a:gdLst/>
            <a:ahLst/>
            <a:cxnLst/>
            <a:rect r="r" b="b" t="t" l="l"/>
            <a:pathLst>
              <a:path h="896420" w="896420">
                <a:moveTo>
                  <a:pt x="0" y="0"/>
                </a:moveTo>
                <a:lnTo>
                  <a:pt x="896420" y="0"/>
                </a:lnTo>
                <a:lnTo>
                  <a:pt x="896420" y="896420"/>
                </a:lnTo>
                <a:lnTo>
                  <a:pt x="0" y="8964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10435729">
            <a:off x="-696093" y="-3780464"/>
            <a:ext cx="7951775" cy="8527373"/>
          </a:xfrm>
          <a:custGeom>
            <a:avLst/>
            <a:gdLst/>
            <a:ahLst/>
            <a:cxnLst/>
            <a:rect r="r" b="b" t="t" l="l"/>
            <a:pathLst>
              <a:path h="8527373" w="7951775">
                <a:moveTo>
                  <a:pt x="0" y="0"/>
                </a:moveTo>
                <a:lnTo>
                  <a:pt x="7951775" y="0"/>
                </a:lnTo>
                <a:lnTo>
                  <a:pt x="7951775" y="8527373"/>
                </a:lnTo>
                <a:lnTo>
                  <a:pt x="0" y="8527373"/>
                </a:lnTo>
                <a:lnTo>
                  <a:pt x="0" y="0"/>
                </a:lnTo>
                <a:close/>
              </a:path>
            </a:pathLst>
          </a:custGeom>
          <a:blipFill>
            <a:blip r:embed="rId5"/>
            <a:stretch>
              <a:fillRect l="0" t="0" r="0" b="0"/>
            </a:stretch>
          </a:blipFill>
        </p:spPr>
      </p:sp>
      <p:sp>
        <p:nvSpPr>
          <p:cNvPr name="TextBox 10" id="10"/>
          <p:cNvSpPr txBox="true"/>
          <p:nvPr/>
        </p:nvSpPr>
        <p:spPr>
          <a:xfrm rot="0">
            <a:off x="9798106" y="869632"/>
            <a:ext cx="51996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hlinkClick r:id="rId6" tooltip="https://fisat.ac.in/wp-content/uploads/2022/07/DSC02156-scaled-e1707299276592.jpg"/>
              </a:rPr>
              <a:t>Enhance Student Safety</a:t>
            </a:r>
          </a:p>
        </p:txBody>
      </p:sp>
      <p:sp>
        <p:nvSpPr>
          <p:cNvPr name="TextBox 11" id="11"/>
          <p:cNvSpPr txBox="true"/>
          <p:nvPr/>
        </p:nvSpPr>
        <p:spPr>
          <a:xfrm rot="0">
            <a:off x="9798106" y="1631944"/>
            <a:ext cx="7679510" cy="757413"/>
          </a:xfrm>
          <a:prstGeom prst="rect">
            <a:avLst/>
          </a:prstGeom>
        </p:spPr>
        <p:txBody>
          <a:bodyPr anchor="t" rtlCol="false" tIns="0" lIns="0" bIns="0" rIns="0">
            <a:spAutoFit/>
          </a:bodyPr>
          <a:lstStyle/>
          <a:p>
            <a:pPr algn="l">
              <a:lnSpc>
                <a:spcPts val="3026"/>
              </a:lnSpc>
              <a:spcBef>
                <a:spcPct val="0"/>
              </a:spcBef>
            </a:pPr>
            <a:r>
              <a:rPr lang="en-US" sz="2161">
                <a:solidFill>
                  <a:srgbClr val="E5E1DA"/>
                </a:solidFill>
                <a:latin typeface="Lato"/>
                <a:ea typeface="Lato"/>
                <a:cs typeface="Lato"/>
                <a:sym typeface="Lato"/>
              </a:rPr>
              <a:t>Ensure a secure and monitored system for student movements in and out of the campus by requiring parental approval.</a:t>
            </a:r>
          </a:p>
        </p:txBody>
      </p:sp>
      <p:sp>
        <p:nvSpPr>
          <p:cNvPr name="TextBox 12" id="12"/>
          <p:cNvSpPr txBox="true"/>
          <p:nvPr/>
        </p:nvSpPr>
        <p:spPr>
          <a:xfrm rot="0">
            <a:off x="1028700" y="6059170"/>
            <a:ext cx="5853180" cy="9239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OBJECTIVES</a:t>
            </a:r>
          </a:p>
        </p:txBody>
      </p:sp>
      <p:sp>
        <p:nvSpPr>
          <p:cNvPr name="TextBox 13" id="13"/>
          <p:cNvSpPr txBox="true"/>
          <p:nvPr/>
        </p:nvSpPr>
        <p:spPr>
          <a:xfrm rot="0">
            <a:off x="9798106" y="2849471"/>
            <a:ext cx="6189193"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Automate Entry and Exit Management</a:t>
            </a:r>
          </a:p>
        </p:txBody>
      </p:sp>
      <p:sp>
        <p:nvSpPr>
          <p:cNvPr name="TextBox 14" id="14"/>
          <p:cNvSpPr txBox="true"/>
          <p:nvPr/>
        </p:nvSpPr>
        <p:spPr>
          <a:xfrm rot="0">
            <a:off x="9798106" y="3431873"/>
            <a:ext cx="7461194" cy="1108710"/>
          </a:xfrm>
          <a:prstGeom prst="rect">
            <a:avLst/>
          </a:prstGeom>
        </p:spPr>
        <p:txBody>
          <a:bodyPr anchor="t" rtlCol="false" tIns="0" lIns="0" bIns="0" rIns="0">
            <a:spAutoFit/>
          </a:bodyPr>
          <a:lstStyle/>
          <a:p>
            <a:pPr algn="l">
              <a:lnSpc>
                <a:spcPts val="2940"/>
              </a:lnSpc>
              <a:spcBef>
                <a:spcPct val="0"/>
              </a:spcBef>
            </a:pPr>
            <a:r>
              <a:rPr lang="en-US" sz="2100">
                <a:solidFill>
                  <a:srgbClr val="E5E1DA"/>
                </a:solidFill>
                <a:latin typeface="Lato"/>
                <a:ea typeface="Lato"/>
                <a:cs typeface="Lato"/>
                <a:sym typeface="Lato"/>
              </a:rPr>
              <a:t>Digitize the process of managing student leave requests, visitor records, and daily reports to reduce manual errors and paperwork.</a:t>
            </a:r>
          </a:p>
        </p:txBody>
      </p:sp>
      <p:sp>
        <p:nvSpPr>
          <p:cNvPr name="TextBox 15" id="15"/>
          <p:cNvSpPr txBox="true"/>
          <p:nvPr/>
        </p:nvSpPr>
        <p:spPr>
          <a:xfrm rot="0">
            <a:off x="9798106" y="4997783"/>
            <a:ext cx="51996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Improve Communication </a:t>
            </a:r>
          </a:p>
        </p:txBody>
      </p:sp>
      <p:sp>
        <p:nvSpPr>
          <p:cNvPr name="TextBox 16" id="16"/>
          <p:cNvSpPr txBox="true"/>
          <p:nvPr/>
        </p:nvSpPr>
        <p:spPr>
          <a:xfrm rot="0">
            <a:off x="9798106" y="5638014"/>
            <a:ext cx="7461194" cy="1108710"/>
          </a:xfrm>
          <a:prstGeom prst="rect">
            <a:avLst/>
          </a:prstGeom>
        </p:spPr>
        <p:txBody>
          <a:bodyPr anchor="t" rtlCol="false" tIns="0" lIns="0" bIns="0" rIns="0">
            <a:spAutoFit/>
          </a:bodyPr>
          <a:lstStyle/>
          <a:p>
            <a:pPr algn="l">
              <a:lnSpc>
                <a:spcPts val="2940"/>
              </a:lnSpc>
              <a:spcBef>
                <a:spcPct val="0"/>
              </a:spcBef>
            </a:pPr>
            <a:r>
              <a:rPr lang="en-US" sz="2100">
                <a:solidFill>
                  <a:srgbClr val="E5E1DA"/>
                </a:solidFill>
                <a:latin typeface="Lato"/>
                <a:ea typeface="Lato"/>
                <a:cs typeface="Lato"/>
                <a:sym typeface="Lato"/>
              </a:rPr>
              <a:t>Facilitate seamless communication between wardens, parents, watchmen, and administrators through real-time notifications and approvals.</a:t>
            </a:r>
          </a:p>
        </p:txBody>
      </p:sp>
      <p:sp>
        <p:nvSpPr>
          <p:cNvPr name="TextBox 17" id="17"/>
          <p:cNvSpPr txBox="true"/>
          <p:nvPr/>
        </p:nvSpPr>
        <p:spPr>
          <a:xfrm rot="0">
            <a:off x="9798106" y="7203924"/>
            <a:ext cx="51996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Efficient Data Management </a:t>
            </a:r>
          </a:p>
        </p:txBody>
      </p:sp>
      <p:sp>
        <p:nvSpPr>
          <p:cNvPr name="TextBox 18" id="18"/>
          <p:cNvSpPr txBox="true"/>
          <p:nvPr/>
        </p:nvSpPr>
        <p:spPr>
          <a:xfrm rot="0">
            <a:off x="9798106" y="7918590"/>
            <a:ext cx="7461194" cy="1108710"/>
          </a:xfrm>
          <a:prstGeom prst="rect">
            <a:avLst/>
          </a:prstGeom>
        </p:spPr>
        <p:txBody>
          <a:bodyPr anchor="t" rtlCol="false" tIns="0" lIns="0" bIns="0" rIns="0">
            <a:spAutoFit/>
          </a:bodyPr>
          <a:lstStyle/>
          <a:p>
            <a:pPr algn="l">
              <a:lnSpc>
                <a:spcPts val="2940"/>
              </a:lnSpc>
              <a:spcBef>
                <a:spcPct val="0"/>
              </a:spcBef>
            </a:pPr>
            <a:r>
              <a:rPr lang="en-US" sz="2100">
                <a:solidFill>
                  <a:srgbClr val="E5E1DA"/>
                </a:solidFill>
                <a:latin typeface="Lato"/>
                <a:ea typeface="Lato"/>
                <a:cs typeface="Lato"/>
                <a:sym typeface="Lato"/>
              </a:rPr>
              <a:t> Provide a centralized platform for wardens, watchmen, and administrators to store, retrieve, and manage student and visitor information efficiently.</a:t>
            </a:r>
          </a:p>
        </p:txBody>
      </p:sp>
      <p:sp>
        <p:nvSpPr>
          <p:cNvPr name="Freeform 19" id="19"/>
          <p:cNvSpPr/>
          <p:nvPr/>
        </p:nvSpPr>
        <p:spPr>
          <a:xfrm flipH="false" flipV="false" rot="0">
            <a:off x="8574588" y="5054933"/>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2"/>
            <a:stretch>
              <a:fillRect l="0" t="0" r="0" b="0"/>
            </a:stretch>
          </a:blipFill>
        </p:spPr>
      </p:sp>
      <p:sp>
        <p:nvSpPr>
          <p:cNvPr name="TextBox 20" id="20"/>
          <p:cNvSpPr txBox="true"/>
          <p:nvPr/>
        </p:nvSpPr>
        <p:spPr>
          <a:xfrm rot="0">
            <a:off x="14647098" y="9474975"/>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8223014">
            <a:off x="14730765" y="-4222773"/>
            <a:ext cx="10128448" cy="10895890"/>
          </a:xfrm>
          <a:custGeom>
            <a:avLst/>
            <a:gdLst/>
            <a:ahLst/>
            <a:cxnLst/>
            <a:rect r="r" b="b" t="t" l="l"/>
            <a:pathLst>
              <a:path h="10895890" w="10128448">
                <a:moveTo>
                  <a:pt x="0" y="0"/>
                </a:moveTo>
                <a:lnTo>
                  <a:pt x="10128448" y="0"/>
                </a:lnTo>
                <a:lnTo>
                  <a:pt x="10128448" y="10895890"/>
                </a:lnTo>
                <a:lnTo>
                  <a:pt x="0" y="10895890"/>
                </a:lnTo>
                <a:lnTo>
                  <a:pt x="0" y="0"/>
                </a:lnTo>
                <a:close/>
              </a:path>
            </a:pathLst>
          </a:custGeom>
          <a:blipFill>
            <a:blip r:embed="rId2"/>
            <a:stretch>
              <a:fillRect l="-157" t="0" r="-157" b="0"/>
            </a:stretch>
          </a:blipFill>
        </p:spPr>
      </p:sp>
      <p:grpSp>
        <p:nvGrpSpPr>
          <p:cNvPr name="Group 3" id="3"/>
          <p:cNvGrpSpPr/>
          <p:nvPr/>
        </p:nvGrpSpPr>
        <p:grpSpPr>
          <a:xfrm rot="0">
            <a:off x="1207387" y="1225172"/>
            <a:ext cx="16230600" cy="650410"/>
            <a:chOff x="0" y="0"/>
            <a:chExt cx="4274726" cy="171301"/>
          </a:xfrm>
        </p:grpSpPr>
        <p:sp>
          <p:nvSpPr>
            <p:cNvPr name="Freeform 4" id="4"/>
            <p:cNvSpPr/>
            <p:nvPr/>
          </p:nvSpPr>
          <p:spPr>
            <a:xfrm flipH="false" flipV="false" rot="0">
              <a:off x="0" y="0"/>
              <a:ext cx="4274726" cy="171301"/>
            </a:xfrm>
            <a:custGeom>
              <a:avLst/>
              <a:gdLst/>
              <a:ahLst/>
              <a:cxnLst/>
              <a:rect r="r" b="b" t="t" l="l"/>
              <a:pathLst>
                <a:path h="171301" w="4274726">
                  <a:moveTo>
                    <a:pt x="28620" y="0"/>
                  </a:moveTo>
                  <a:lnTo>
                    <a:pt x="4246106" y="0"/>
                  </a:lnTo>
                  <a:cubicBezTo>
                    <a:pt x="4261912" y="0"/>
                    <a:pt x="4274726" y="12813"/>
                    <a:pt x="4274726" y="28620"/>
                  </a:cubicBezTo>
                  <a:lnTo>
                    <a:pt x="4274726" y="142682"/>
                  </a:lnTo>
                  <a:cubicBezTo>
                    <a:pt x="4274726" y="158488"/>
                    <a:pt x="4261912" y="171301"/>
                    <a:pt x="4246106" y="171301"/>
                  </a:cubicBezTo>
                  <a:lnTo>
                    <a:pt x="28620" y="171301"/>
                  </a:lnTo>
                  <a:cubicBezTo>
                    <a:pt x="12813" y="171301"/>
                    <a:pt x="0" y="158488"/>
                    <a:pt x="0" y="142682"/>
                  </a:cubicBezTo>
                  <a:lnTo>
                    <a:pt x="0" y="28620"/>
                  </a:lnTo>
                  <a:cubicBezTo>
                    <a:pt x="0" y="12813"/>
                    <a:pt x="12813" y="0"/>
                    <a:pt x="28620" y="0"/>
                  </a:cubicBezTo>
                  <a:close/>
                </a:path>
              </a:pathLst>
            </a:custGeom>
            <a:solidFill>
              <a:srgbClr val="000000">
                <a:alpha val="0"/>
              </a:srgbClr>
            </a:solidFill>
            <a:ln w="38100" cap="rnd">
              <a:solidFill>
                <a:srgbClr val="FBF9F1"/>
              </a:solidFill>
              <a:prstDash val="solid"/>
              <a:round/>
            </a:ln>
          </p:spPr>
        </p:sp>
        <p:sp>
          <p:nvSpPr>
            <p:cNvPr name="TextBox 5" id="5"/>
            <p:cNvSpPr txBox="true"/>
            <p:nvPr/>
          </p:nvSpPr>
          <p:spPr>
            <a:xfrm>
              <a:off x="0" y="-38100"/>
              <a:ext cx="4274726" cy="20940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42098" y="1344752"/>
            <a:ext cx="408164" cy="411249"/>
          </a:xfrm>
          <a:custGeom>
            <a:avLst/>
            <a:gdLst/>
            <a:ahLst/>
            <a:cxnLst/>
            <a:rect r="r" b="b" t="t" l="l"/>
            <a:pathLst>
              <a:path h="411249" w="408164">
                <a:moveTo>
                  <a:pt x="0" y="0"/>
                </a:moveTo>
                <a:lnTo>
                  <a:pt x="408165" y="0"/>
                </a:lnTo>
                <a:lnTo>
                  <a:pt x="408165" y="411249"/>
                </a:lnTo>
                <a:lnTo>
                  <a:pt x="0" y="411249"/>
                </a:lnTo>
                <a:lnTo>
                  <a:pt x="0" y="0"/>
                </a:lnTo>
                <a:close/>
              </a:path>
            </a:pathLst>
          </a:custGeom>
          <a:blipFill>
            <a:blip r:embed="rId3"/>
            <a:stretch>
              <a:fillRect l="0" t="0" r="0" b="0"/>
            </a:stretch>
          </a:blipFill>
        </p:spPr>
      </p:sp>
      <p:sp>
        <p:nvSpPr>
          <p:cNvPr name="Freeform 7" id="7"/>
          <p:cNvSpPr/>
          <p:nvPr/>
        </p:nvSpPr>
        <p:spPr>
          <a:xfrm flipH="false" flipV="false" rot="0">
            <a:off x="5678149" y="1330388"/>
            <a:ext cx="408164" cy="411249"/>
          </a:xfrm>
          <a:custGeom>
            <a:avLst/>
            <a:gdLst/>
            <a:ahLst/>
            <a:cxnLst/>
            <a:rect r="r" b="b" t="t" l="l"/>
            <a:pathLst>
              <a:path h="411249" w="408164">
                <a:moveTo>
                  <a:pt x="0" y="0"/>
                </a:moveTo>
                <a:lnTo>
                  <a:pt x="408164" y="0"/>
                </a:lnTo>
                <a:lnTo>
                  <a:pt x="408164" y="411248"/>
                </a:lnTo>
                <a:lnTo>
                  <a:pt x="0" y="411248"/>
                </a:lnTo>
                <a:lnTo>
                  <a:pt x="0" y="0"/>
                </a:lnTo>
                <a:close/>
              </a:path>
            </a:pathLst>
          </a:custGeom>
          <a:blipFill>
            <a:blip r:embed="rId3"/>
            <a:stretch>
              <a:fillRect l="0" t="0" r="0" b="0"/>
            </a:stretch>
          </a:blipFill>
        </p:spPr>
      </p:sp>
      <p:sp>
        <p:nvSpPr>
          <p:cNvPr name="Freeform 8" id="8"/>
          <p:cNvSpPr/>
          <p:nvPr/>
        </p:nvSpPr>
        <p:spPr>
          <a:xfrm flipH="false" flipV="false" rot="0">
            <a:off x="9714199" y="1316023"/>
            <a:ext cx="408164" cy="411249"/>
          </a:xfrm>
          <a:custGeom>
            <a:avLst/>
            <a:gdLst/>
            <a:ahLst/>
            <a:cxnLst/>
            <a:rect r="r" b="b" t="t" l="l"/>
            <a:pathLst>
              <a:path h="411249" w="408164">
                <a:moveTo>
                  <a:pt x="0" y="0"/>
                </a:moveTo>
                <a:lnTo>
                  <a:pt x="408164" y="0"/>
                </a:lnTo>
                <a:lnTo>
                  <a:pt x="408164" y="411249"/>
                </a:lnTo>
                <a:lnTo>
                  <a:pt x="0" y="411249"/>
                </a:lnTo>
                <a:lnTo>
                  <a:pt x="0" y="0"/>
                </a:lnTo>
                <a:close/>
              </a:path>
            </a:pathLst>
          </a:custGeom>
          <a:blipFill>
            <a:blip r:embed="rId3"/>
            <a:stretch>
              <a:fillRect l="0" t="0" r="0" b="0"/>
            </a:stretch>
          </a:blipFill>
        </p:spPr>
      </p:sp>
      <p:sp>
        <p:nvSpPr>
          <p:cNvPr name="Freeform 9" id="9"/>
          <p:cNvSpPr/>
          <p:nvPr/>
        </p:nvSpPr>
        <p:spPr>
          <a:xfrm flipH="false" flipV="false" rot="0">
            <a:off x="13750249" y="1301658"/>
            <a:ext cx="408164" cy="411249"/>
          </a:xfrm>
          <a:custGeom>
            <a:avLst/>
            <a:gdLst/>
            <a:ahLst/>
            <a:cxnLst/>
            <a:rect r="r" b="b" t="t" l="l"/>
            <a:pathLst>
              <a:path h="411249" w="408164">
                <a:moveTo>
                  <a:pt x="0" y="0"/>
                </a:moveTo>
                <a:lnTo>
                  <a:pt x="408165" y="0"/>
                </a:lnTo>
                <a:lnTo>
                  <a:pt x="408165" y="411249"/>
                </a:lnTo>
                <a:lnTo>
                  <a:pt x="0" y="411249"/>
                </a:lnTo>
                <a:lnTo>
                  <a:pt x="0" y="0"/>
                </a:lnTo>
                <a:close/>
              </a:path>
            </a:pathLst>
          </a:custGeom>
          <a:blipFill>
            <a:blip r:embed="rId3"/>
            <a:stretch>
              <a:fillRect l="0" t="0" r="0" b="0"/>
            </a:stretch>
          </a:blipFill>
        </p:spPr>
      </p:sp>
      <p:sp>
        <p:nvSpPr>
          <p:cNvPr name="Freeform 10" id="10"/>
          <p:cNvSpPr/>
          <p:nvPr/>
        </p:nvSpPr>
        <p:spPr>
          <a:xfrm flipH="false" flipV="false" rot="0">
            <a:off x="378290" y="378290"/>
            <a:ext cx="650410" cy="650410"/>
          </a:xfrm>
          <a:custGeom>
            <a:avLst/>
            <a:gdLst/>
            <a:ahLst/>
            <a:cxnLst/>
            <a:rect r="r" b="b" t="t" l="l"/>
            <a:pathLst>
              <a:path h="650410" w="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658395" y="2116882"/>
            <a:ext cx="3220434"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User Management</a:t>
            </a:r>
          </a:p>
        </p:txBody>
      </p:sp>
      <p:sp>
        <p:nvSpPr>
          <p:cNvPr name="TextBox 12" id="12"/>
          <p:cNvSpPr txBox="true"/>
          <p:nvPr/>
        </p:nvSpPr>
        <p:spPr>
          <a:xfrm rot="0">
            <a:off x="1625802" y="2688382"/>
            <a:ext cx="3253027" cy="2725420"/>
          </a:xfrm>
          <a:prstGeom prst="rect">
            <a:avLst/>
          </a:prstGeom>
        </p:spPr>
        <p:txBody>
          <a:bodyPr anchor="t" rtlCol="false" tIns="0" lIns="0" bIns="0" rIns="0">
            <a:spAutoFit/>
          </a:bodyPr>
          <a:lstStyle/>
          <a:p>
            <a:pPr algn="ctr">
              <a:lnSpc>
                <a:spcPts val="3079"/>
              </a:lnSpc>
              <a:spcBef>
                <a:spcPct val="0"/>
              </a:spcBef>
            </a:pPr>
            <a:r>
              <a:rPr lang="en-US" sz="2199">
                <a:solidFill>
                  <a:srgbClr val="E5E1DA"/>
                </a:solidFill>
                <a:latin typeface="Lato"/>
                <a:ea typeface="Lato"/>
                <a:cs typeface="Lato"/>
                <a:sym typeface="Lato"/>
              </a:rPr>
              <a:t>This module handles user roles, including wardens, watchmen, and admins. Each user has specific permissions based on their role, ensuring secure access to the system.</a:t>
            </a:r>
          </a:p>
        </p:txBody>
      </p:sp>
      <p:sp>
        <p:nvSpPr>
          <p:cNvPr name="TextBox 13" id="13"/>
          <p:cNvSpPr txBox="true"/>
          <p:nvPr/>
        </p:nvSpPr>
        <p:spPr>
          <a:xfrm rot="0">
            <a:off x="1207387" y="501614"/>
            <a:ext cx="2524606" cy="403763"/>
          </a:xfrm>
          <a:prstGeom prst="rect">
            <a:avLst/>
          </a:prstGeom>
        </p:spPr>
        <p:txBody>
          <a:bodyPr anchor="t" rtlCol="false" tIns="0" lIns="0" bIns="0" rIns="0">
            <a:spAutoFit/>
          </a:bodyPr>
          <a:lstStyle/>
          <a:p>
            <a:pPr algn="l">
              <a:lnSpc>
                <a:spcPts val="2914"/>
              </a:lnSpc>
            </a:pPr>
            <a:r>
              <a:rPr lang="en-US" sz="2649" b="true">
                <a:solidFill>
                  <a:srgbClr val="FBF9F1"/>
                </a:solidFill>
                <a:latin typeface="Poppins Bold"/>
                <a:ea typeface="Poppins Bold"/>
                <a:cs typeface="Poppins Bold"/>
                <a:sym typeface="Poppins Bold"/>
              </a:rPr>
              <a:t>MODULES</a:t>
            </a:r>
          </a:p>
        </p:txBody>
      </p:sp>
      <p:sp>
        <p:nvSpPr>
          <p:cNvPr name="TextBox 14" id="14"/>
          <p:cNvSpPr txBox="true"/>
          <p:nvPr/>
        </p:nvSpPr>
        <p:spPr>
          <a:xfrm rot="0">
            <a:off x="5694445" y="2155292"/>
            <a:ext cx="3220434"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Student Management</a:t>
            </a:r>
          </a:p>
        </p:txBody>
      </p:sp>
      <p:sp>
        <p:nvSpPr>
          <p:cNvPr name="TextBox 15" id="15"/>
          <p:cNvSpPr txBox="true"/>
          <p:nvPr/>
        </p:nvSpPr>
        <p:spPr>
          <a:xfrm rot="0">
            <a:off x="5661852" y="2688382"/>
            <a:ext cx="3253027" cy="2725420"/>
          </a:xfrm>
          <a:prstGeom prst="rect">
            <a:avLst/>
          </a:prstGeom>
        </p:spPr>
        <p:txBody>
          <a:bodyPr anchor="t" rtlCol="false" tIns="0" lIns="0" bIns="0" rIns="0">
            <a:spAutoFit/>
          </a:bodyPr>
          <a:lstStyle/>
          <a:p>
            <a:pPr algn="ctr">
              <a:lnSpc>
                <a:spcPts val="3079"/>
              </a:lnSpc>
              <a:spcBef>
                <a:spcPct val="0"/>
              </a:spcBef>
            </a:pPr>
            <a:r>
              <a:rPr lang="en-US" sz="2199">
                <a:solidFill>
                  <a:srgbClr val="E5E1DA"/>
                </a:solidFill>
                <a:latin typeface="Lato"/>
                <a:ea typeface="Lato"/>
                <a:cs typeface="Lato"/>
                <a:sym typeface="Lato"/>
              </a:rPr>
              <a:t>Wardens can add, edit, and view student details. This module ensures that all student records, including personal details and movement history, are stored securely.</a:t>
            </a:r>
          </a:p>
        </p:txBody>
      </p:sp>
      <p:sp>
        <p:nvSpPr>
          <p:cNvPr name="TextBox 16" id="16"/>
          <p:cNvSpPr txBox="true"/>
          <p:nvPr/>
        </p:nvSpPr>
        <p:spPr>
          <a:xfrm rot="0">
            <a:off x="9746792" y="2164817"/>
            <a:ext cx="3220434" cy="771736"/>
          </a:xfrm>
          <a:prstGeom prst="rect">
            <a:avLst/>
          </a:prstGeom>
        </p:spPr>
        <p:txBody>
          <a:bodyPr anchor="t" rtlCol="false" tIns="0" lIns="0" bIns="0" rIns="0">
            <a:spAutoFit/>
          </a:bodyPr>
          <a:lstStyle/>
          <a:p>
            <a:pPr algn="ctr">
              <a:lnSpc>
                <a:spcPts val="3138"/>
              </a:lnSpc>
              <a:spcBef>
                <a:spcPct val="0"/>
              </a:spcBef>
            </a:pPr>
            <a:r>
              <a:rPr lang="en-US" b="true" sz="2241">
                <a:solidFill>
                  <a:srgbClr val="FFD944"/>
                </a:solidFill>
                <a:latin typeface="Lato Bold"/>
                <a:ea typeface="Lato Bold"/>
                <a:cs typeface="Lato Bold"/>
                <a:sym typeface="Lato Bold"/>
              </a:rPr>
              <a:t>Parental Notification and Approval</a:t>
            </a:r>
          </a:p>
        </p:txBody>
      </p:sp>
      <p:sp>
        <p:nvSpPr>
          <p:cNvPr name="TextBox 17" id="17"/>
          <p:cNvSpPr txBox="true"/>
          <p:nvPr/>
        </p:nvSpPr>
        <p:spPr>
          <a:xfrm rot="0">
            <a:off x="9550278" y="3010628"/>
            <a:ext cx="3877779" cy="2731101"/>
          </a:xfrm>
          <a:prstGeom prst="rect">
            <a:avLst/>
          </a:prstGeom>
        </p:spPr>
        <p:txBody>
          <a:bodyPr anchor="t" rtlCol="false" tIns="0" lIns="0" bIns="0" rIns="0">
            <a:spAutoFit/>
          </a:bodyPr>
          <a:lstStyle/>
          <a:p>
            <a:pPr algn="ctr">
              <a:lnSpc>
                <a:spcPts val="2766"/>
              </a:lnSpc>
              <a:spcBef>
                <a:spcPct val="0"/>
              </a:spcBef>
            </a:pPr>
            <a:r>
              <a:rPr lang="en-US" sz="1976">
                <a:solidFill>
                  <a:srgbClr val="E5E1DA"/>
                </a:solidFill>
                <a:latin typeface="Lato"/>
                <a:ea typeface="Lato"/>
                <a:cs typeface="Lato"/>
                <a:sym typeface="Lato"/>
              </a:rPr>
              <a:t>When a student requests to leave, the warden sends a notification to the parent. The parent must approve the request before the warden can proceed with informing the watchman. This step ensures parental involvement in student safety.</a:t>
            </a:r>
          </a:p>
        </p:txBody>
      </p:sp>
      <p:sp>
        <p:nvSpPr>
          <p:cNvPr name="TextBox 18" id="18"/>
          <p:cNvSpPr txBox="true"/>
          <p:nvPr/>
        </p:nvSpPr>
        <p:spPr>
          <a:xfrm rot="0">
            <a:off x="13782843" y="2155292"/>
            <a:ext cx="3220434"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Watchman Dashboard</a:t>
            </a:r>
          </a:p>
        </p:txBody>
      </p:sp>
      <p:sp>
        <p:nvSpPr>
          <p:cNvPr name="TextBox 19" id="19"/>
          <p:cNvSpPr txBox="true"/>
          <p:nvPr/>
        </p:nvSpPr>
        <p:spPr>
          <a:xfrm rot="0">
            <a:off x="13782843" y="2688382"/>
            <a:ext cx="3253027" cy="3115945"/>
          </a:xfrm>
          <a:prstGeom prst="rect">
            <a:avLst/>
          </a:prstGeom>
        </p:spPr>
        <p:txBody>
          <a:bodyPr anchor="t" rtlCol="false" tIns="0" lIns="0" bIns="0" rIns="0">
            <a:spAutoFit/>
          </a:bodyPr>
          <a:lstStyle/>
          <a:p>
            <a:pPr algn="ctr">
              <a:lnSpc>
                <a:spcPts val="3079"/>
              </a:lnSpc>
              <a:spcBef>
                <a:spcPct val="0"/>
              </a:spcBef>
            </a:pPr>
            <a:r>
              <a:rPr lang="en-US" sz="2199">
                <a:solidFill>
                  <a:srgbClr val="E5E1DA"/>
                </a:solidFill>
                <a:latin typeface="Lato"/>
                <a:ea typeface="Lato"/>
                <a:cs typeface="Lato"/>
                <a:sym typeface="Lato"/>
              </a:rPr>
              <a:t>The watchman can view approved student leave requests, track students leaving and entering the campus, add visitor details, and generate daily reports for the admin.</a:t>
            </a:r>
          </a:p>
          <a:p>
            <a:pPr algn="ctr">
              <a:lnSpc>
                <a:spcPts val="3079"/>
              </a:lnSpc>
              <a:spcBef>
                <a:spcPct val="0"/>
              </a:spcBef>
            </a:pPr>
          </a:p>
        </p:txBody>
      </p:sp>
      <p:grpSp>
        <p:nvGrpSpPr>
          <p:cNvPr name="Group 20" id="20"/>
          <p:cNvGrpSpPr/>
          <p:nvPr/>
        </p:nvGrpSpPr>
        <p:grpSpPr>
          <a:xfrm rot="0">
            <a:off x="1207387" y="6236437"/>
            <a:ext cx="16230600" cy="650410"/>
            <a:chOff x="0" y="0"/>
            <a:chExt cx="4274726" cy="171301"/>
          </a:xfrm>
        </p:grpSpPr>
        <p:sp>
          <p:nvSpPr>
            <p:cNvPr name="Freeform 21" id="21"/>
            <p:cNvSpPr/>
            <p:nvPr/>
          </p:nvSpPr>
          <p:spPr>
            <a:xfrm flipH="false" flipV="false" rot="0">
              <a:off x="0" y="0"/>
              <a:ext cx="4274726" cy="171301"/>
            </a:xfrm>
            <a:custGeom>
              <a:avLst/>
              <a:gdLst/>
              <a:ahLst/>
              <a:cxnLst/>
              <a:rect r="r" b="b" t="t" l="l"/>
              <a:pathLst>
                <a:path h="171301" w="4274726">
                  <a:moveTo>
                    <a:pt x="28620" y="0"/>
                  </a:moveTo>
                  <a:lnTo>
                    <a:pt x="4246106" y="0"/>
                  </a:lnTo>
                  <a:cubicBezTo>
                    <a:pt x="4261912" y="0"/>
                    <a:pt x="4274726" y="12813"/>
                    <a:pt x="4274726" y="28620"/>
                  </a:cubicBezTo>
                  <a:lnTo>
                    <a:pt x="4274726" y="142682"/>
                  </a:lnTo>
                  <a:cubicBezTo>
                    <a:pt x="4274726" y="158488"/>
                    <a:pt x="4261912" y="171301"/>
                    <a:pt x="4246106" y="171301"/>
                  </a:cubicBezTo>
                  <a:lnTo>
                    <a:pt x="28620" y="171301"/>
                  </a:lnTo>
                  <a:cubicBezTo>
                    <a:pt x="12813" y="171301"/>
                    <a:pt x="0" y="158488"/>
                    <a:pt x="0" y="142682"/>
                  </a:cubicBezTo>
                  <a:lnTo>
                    <a:pt x="0" y="28620"/>
                  </a:lnTo>
                  <a:cubicBezTo>
                    <a:pt x="0" y="12813"/>
                    <a:pt x="12813" y="0"/>
                    <a:pt x="28620" y="0"/>
                  </a:cubicBezTo>
                  <a:close/>
                </a:path>
              </a:pathLst>
            </a:custGeom>
            <a:solidFill>
              <a:srgbClr val="000000">
                <a:alpha val="0"/>
              </a:srgbClr>
            </a:solidFill>
            <a:ln w="38100" cap="rnd">
              <a:solidFill>
                <a:srgbClr val="FBF9F1"/>
              </a:solidFill>
              <a:prstDash val="solid"/>
              <a:round/>
            </a:ln>
          </p:spPr>
        </p:sp>
        <p:sp>
          <p:nvSpPr>
            <p:cNvPr name="TextBox 22" id="22"/>
            <p:cNvSpPr txBox="true"/>
            <p:nvPr/>
          </p:nvSpPr>
          <p:spPr>
            <a:xfrm>
              <a:off x="0" y="-38100"/>
              <a:ext cx="4274726" cy="209401"/>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1642098" y="6356018"/>
            <a:ext cx="408164" cy="411249"/>
          </a:xfrm>
          <a:custGeom>
            <a:avLst/>
            <a:gdLst/>
            <a:ahLst/>
            <a:cxnLst/>
            <a:rect r="r" b="b" t="t" l="l"/>
            <a:pathLst>
              <a:path h="411249" w="408164">
                <a:moveTo>
                  <a:pt x="0" y="0"/>
                </a:moveTo>
                <a:lnTo>
                  <a:pt x="408165" y="0"/>
                </a:lnTo>
                <a:lnTo>
                  <a:pt x="408165" y="411249"/>
                </a:lnTo>
                <a:lnTo>
                  <a:pt x="0" y="411249"/>
                </a:lnTo>
                <a:lnTo>
                  <a:pt x="0" y="0"/>
                </a:lnTo>
                <a:close/>
              </a:path>
            </a:pathLst>
          </a:custGeom>
          <a:blipFill>
            <a:blip r:embed="rId3"/>
            <a:stretch>
              <a:fillRect l="0" t="0" r="0" b="0"/>
            </a:stretch>
          </a:blipFill>
        </p:spPr>
      </p:sp>
      <p:sp>
        <p:nvSpPr>
          <p:cNvPr name="Freeform 24" id="24"/>
          <p:cNvSpPr/>
          <p:nvPr/>
        </p:nvSpPr>
        <p:spPr>
          <a:xfrm flipH="false" flipV="false" rot="0">
            <a:off x="7009164" y="6356018"/>
            <a:ext cx="408164" cy="411249"/>
          </a:xfrm>
          <a:custGeom>
            <a:avLst/>
            <a:gdLst/>
            <a:ahLst/>
            <a:cxnLst/>
            <a:rect r="r" b="b" t="t" l="l"/>
            <a:pathLst>
              <a:path h="411249" w="408164">
                <a:moveTo>
                  <a:pt x="0" y="0"/>
                </a:moveTo>
                <a:lnTo>
                  <a:pt x="408164" y="0"/>
                </a:lnTo>
                <a:lnTo>
                  <a:pt x="408164" y="411249"/>
                </a:lnTo>
                <a:lnTo>
                  <a:pt x="0" y="411249"/>
                </a:lnTo>
                <a:lnTo>
                  <a:pt x="0" y="0"/>
                </a:lnTo>
                <a:close/>
              </a:path>
            </a:pathLst>
          </a:custGeom>
          <a:blipFill>
            <a:blip r:embed="rId3"/>
            <a:stretch>
              <a:fillRect l="0" t="0" r="0" b="0"/>
            </a:stretch>
          </a:blipFill>
        </p:spPr>
      </p:sp>
      <p:sp>
        <p:nvSpPr>
          <p:cNvPr name="Freeform 25" id="25"/>
          <p:cNvSpPr/>
          <p:nvPr/>
        </p:nvSpPr>
        <p:spPr>
          <a:xfrm flipH="false" flipV="false" rot="0">
            <a:off x="12559062" y="6356018"/>
            <a:ext cx="408164" cy="411249"/>
          </a:xfrm>
          <a:custGeom>
            <a:avLst/>
            <a:gdLst/>
            <a:ahLst/>
            <a:cxnLst/>
            <a:rect r="r" b="b" t="t" l="l"/>
            <a:pathLst>
              <a:path h="411249" w="408164">
                <a:moveTo>
                  <a:pt x="0" y="0"/>
                </a:moveTo>
                <a:lnTo>
                  <a:pt x="408164" y="0"/>
                </a:lnTo>
                <a:lnTo>
                  <a:pt x="408164" y="411249"/>
                </a:lnTo>
                <a:lnTo>
                  <a:pt x="0" y="411249"/>
                </a:lnTo>
                <a:lnTo>
                  <a:pt x="0" y="0"/>
                </a:lnTo>
                <a:close/>
              </a:path>
            </a:pathLst>
          </a:custGeom>
          <a:blipFill>
            <a:blip r:embed="rId3"/>
            <a:stretch>
              <a:fillRect l="0" t="0" r="0" b="0"/>
            </a:stretch>
          </a:blipFill>
        </p:spPr>
      </p:sp>
      <p:sp>
        <p:nvSpPr>
          <p:cNvPr name="TextBox 26" id="26"/>
          <p:cNvSpPr txBox="true"/>
          <p:nvPr/>
        </p:nvSpPr>
        <p:spPr>
          <a:xfrm rot="0">
            <a:off x="1671158" y="7167835"/>
            <a:ext cx="3220434"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Visitor Management </a:t>
            </a:r>
          </a:p>
        </p:txBody>
      </p:sp>
      <p:sp>
        <p:nvSpPr>
          <p:cNvPr name="TextBox 27" id="27"/>
          <p:cNvSpPr txBox="true"/>
          <p:nvPr/>
        </p:nvSpPr>
        <p:spPr>
          <a:xfrm rot="0">
            <a:off x="1412932" y="7699470"/>
            <a:ext cx="3678766" cy="2222835"/>
          </a:xfrm>
          <a:prstGeom prst="rect">
            <a:avLst/>
          </a:prstGeom>
        </p:spPr>
        <p:txBody>
          <a:bodyPr anchor="t" rtlCol="false" tIns="0" lIns="0" bIns="0" rIns="0">
            <a:spAutoFit/>
          </a:bodyPr>
          <a:lstStyle/>
          <a:p>
            <a:pPr algn="ctr">
              <a:lnSpc>
                <a:spcPts val="2956"/>
              </a:lnSpc>
              <a:spcBef>
                <a:spcPct val="0"/>
              </a:spcBef>
            </a:pPr>
            <a:r>
              <a:rPr lang="en-US" sz="2111">
                <a:solidFill>
                  <a:srgbClr val="E5E1DA"/>
                </a:solidFill>
                <a:latin typeface="Lato"/>
                <a:ea typeface="Lato"/>
                <a:cs typeface="Lato"/>
                <a:sym typeface="Lato"/>
              </a:rPr>
              <a:t>This module allows the watchman to record visitor details, view visitor logs, and manage entry permissions, ensuring proper tracking of outsiders entering the campus.</a:t>
            </a:r>
          </a:p>
        </p:txBody>
      </p:sp>
      <p:sp>
        <p:nvSpPr>
          <p:cNvPr name="TextBox 28" id="28"/>
          <p:cNvSpPr txBox="true"/>
          <p:nvPr/>
        </p:nvSpPr>
        <p:spPr>
          <a:xfrm rot="0">
            <a:off x="7320959" y="7128147"/>
            <a:ext cx="3220434"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Admin Dashboard</a:t>
            </a:r>
          </a:p>
        </p:txBody>
      </p:sp>
      <p:sp>
        <p:nvSpPr>
          <p:cNvPr name="TextBox 29" id="29"/>
          <p:cNvSpPr txBox="true"/>
          <p:nvPr/>
        </p:nvSpPr>
        <p:spPr>
          <a:xfrm rot="0">
            <a:off x="7093549" y="7699647"/>
            <a:ext cx="3342217" cy="2110931"/>
          </a:xfrm>
          <a:prstGeom prst="rect">
            <a:avLst/>
          </a:prstGeom>
        </p:spPr>
        <p:txBody>
          <a:bodyPr anchor="t" rtlCol="false" tIns="0" lIns="0" bIns="0" rIns="0">
            <a:spAutoFit/>
          </a:bodyPr>
          <a:lstStyle/>
          <a:p>
            <a:pPr algn="ctr">
              <a:lnSpc>
                <a:spcPts val="2824"/>
              </a:lnSpc>
              <a:spcBef>
                <a:spcPct val="0"/>
              </a:spcBef>
            </a:pPr>
            <a:r>
              <a:rPr lang="en-US" sz="2017">
                <a:solidFill>
                  <a:srgbClr val="E5E1DA"/>
                </a:solidFill>
                <a:latin typeface="Lato"/>
                <a:ea typeface="Lato"/>
                <a:cs typeface="Lato"/>
                <a:sym typeface="Lato"/>
              </a:rPr>
              <a:t>The admin can access and search student and visitor records, monitor campus movements, and review daily reports from the watchman for better security oversight.</a:t>
            </a:r>
          </a:p>
        </p:txBody>
      </p:sp>
      <p:sp>
        <p:nvSpPr>
          <p:cNvPr name="TextBox 30" id="30"/>
          <p:cNvSpPr txBox="true"/>
          <p:nvPr/>
        </p:nvSpPr>
        <p:spPr>
          <a:xfrm rot="0">
            <a:off x="12967226" y="7128147"/>
            <a:ext cx="3220434"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Report Generation</a:t>
            </a:r>
          </a:p>
        </p:txBody>
      </p:sp>
      <p:sp>
        <p:nvSpPr>
          <p:cNvPr name="TextBox 31" id="31"/>
          <p:cNvSpPr txBox="true"/>
          <p:nvPr/>
        </p:nvSpPr>
        <p:spPr>
          <a:xfrm rot="0">
            <a:off x="12637723" y="7699647"/>
            <a:ext cx="3549937" cy="2222657"/>
          </a:xfrm>
          <a:prstGeom prst="rect">
            <a:avLst/>
          </a:prstGeom>
        </p:spPr>
        <p:txBody>
          <a:bodyPr anchor="t" rtlCol="false" tIns="0" lIns="0" bIns="0" rIns="0">
            <a:spAutoFit/>
          </a:bodyPr>
          <a:lstStyle/>
          <a:p>
            <a:pPr algn="ctr">
              <a:lnSpc>
                <a:spcPts val="2966"/>
              </a:lnSpc>
              <a:spcBef>
                <a:spcPct val="0"/>
              </a:spcBef>
            </a:pPr>
            <a:r>
              <a:rPr lang="en-US" sz="2118">
                <a:solidFill>
                  <a:srgbClr val="E5E1DA"/>
                </a:solidFill>
                <a:latin typeface="Lato"/>
                <a:ea typeface="Lato"/>
                <a:cs typeface="Lato"/>
                <a:sym typeface="Lato"/>
              </a:rPr>
              <a:t>The system generates reports on student movements and visitor records, helping administrators and security personnel maintain accurate records for future reference.</a:t>
            </a:r>
          </a:p>
        </p:txBody>
      </p:sp>
      <p:sp>
        <p:nvSpPr>
          <p:cNvPr name="TextBox 32" id="32"/>
          <p:cNvSpPr txBox="true"/>
          <p:nvPr/>
        </p:nvSpPr>
        <p:spPr>
          <a:xfrm rot="0">
            <a:off x="14577443" y="9429956"/>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6626010" y="-1579649"/>
            <a:ext cx="9744477" cy="7040385"/>
          </a:xfrm>
          <a:custGeom>
            <a:avLst/>
            <a:gdLst/>
            <a:ahLst/>
            <a:cxnLst/>
            <a:rect r="r" b="b" t="t" l="l"/>
            <a:pathLst>
              <a:path h="7040385" w="9744477">
                <a:moveTo>
                  <a:pt x="0" y="0"/>
                </a:moveTo>
                <a:lnTo>
                  <a:pt x="9744477" y="0"/>
                </a:lnTo>
                <a:lnTo>
                  <a:pt x="9744477" y="7040384"/>
                </a:lnTo>
                <a:lnTo>
                  <a:pt x="0" y="7040384"/>
                </a:lnTo>
                <a:lnTo>
                  <a:pt x="0" y="0"/>
                </a:lnTo>
                <a:close/>
              </a:path>
            </a:pathLst>
          </a:custGeom>
          <a:blipFill>
            <a:blip r:embed="rId2"/>
            <a:stretch>
              <a:fillRect l="0" t="0" r="0" b="0"/>
            </a:stretch>
          </a:blipFill>
        </p:spPr>
      </p:sp>
      <p:sp>
        <p:nvSpPr>
          <p:cNvPr name="Freeform 3" id="3"/>
          <p:cNvSpPr/>
          <p:nvPr/>
        </p:nvSpPr>
        <p:spPr>
          <a:xfrm flipH="false" flipV="false" rot="5400000">
            <a:off x="14432526" y="-227603"/>
            <a:ext cx="9744477" cy="7040385"/>
          </a:xfrm>
          <a:custGeom>
            <a:avLst/>
            <a:gdLst/>
            <a:ahLst/>
            <a:cxnLst/>
            <a:rect r="r" b="b" t="t" l="l"/>
            <a:pathLst>
              <a:path h="7040385" w="9744477">
                <a:moveTo>
                  <a:pt x="0" y="0"/>
                </a:moveTo>
                <a:lnTo>
                  <a:pt x="9744477" y="0"/>
                </a:lnTo>
                <a:lnTo>
                  <a:pt x="9744477" y="7040384"/>
                </a:lnTo>
                <a:lnTo>
                  <a:pt x="0" y="7040384"/>
                </a:lnTo>
                <a:lnTo>
                  <a:pt x="0" y="0"/>
                </a:lnTo>
                <a:close/>
              </a:path>
            </a:pathLst>
          </a:custGeom>
          <a:blipFill>
            <a:blip r:embed="rId2"/>
            <a:stretch>
              <a:fillRect l="0" t="0" r="0" b="0"/>
            </a:stretch>
          </a:blipFill>
        </p:spPr>
      </p:sp>
      <p:sp>
        <p:nvSpPr>
          <p:cNvPr name="Freeform 4" id="4"/>
          <p:cNvSpPr/>
          <p:nvPr/>
        </p:nvSpPr>
        <p:spPr>
          <a:xfrm flipH="false" flipV="false" rot="0">
            <a:off x="1028700" y="1972343"/>
            <a:ext cx="705511" cy="722674"/>
          </a:xfrm>
          <a:custGeom>
            <a:avLst/>
            <a:gdLst/>
            <a:ahLst/>
            <a:cxnLst/>
            <a:rect r="r" b="b" t="t" l="l"/>
            <a:pathLst>
              <a:path h="722674" w="705511">
                <a:moveTo>
                  <a:pt x="0" y="0"/>
                </a:moveTo>
                <a:lnTo>
                  <a:pt x="705511" y="0"/>
                </a:lnTo>
                <a:lnTo>
                  <a:pt x="705511" y="722675"/>
                </a:lnTo>
                <a:lnTo>
                  <a:pt x="0" y="722675"/>
                </a:lnTo>
                <a:lnTo>
                  <a:pt x="0" y="0"/>
                </a:lnTo>
                <a:close/>
              </a:path>
            </a:pathLst>
          </a:custGeom>
          <a:blipFill>
            <a:blip r:embed="rId3"/>
            <a:stretch>
              <a:fillRect l="0" t="0" r="0" b="0"/>
            </a:stretch>
          </a:blipFill>
        </p:spPr>
      </p:sp>
      <p:sp>
        <p:nvSpPr>
          <p:cNvPr name="Freeform 5" id="5"/>
          <p:cNvSpPr/>
          <p:nvPr/>
        </p:nvSpPr>
        <p:spPr>
          <a:xfrm flipH="false" flipV="false" rot="0">
            <a:off x="1028700" y="1972343"/>
            <a:ext cx="717254" cy="722674"/>
          </a:xfrm>
          <a:custGeom>
            <a:avLst/>
            <a:gdLst/>
            <a:ahLst/>
            <a:cxnLst/>
            <a:rect r="r" b="b" t="t" l="l"/>
            <a:pathLst>
              <a:path h="722674" w="717254">
                <a:moveTo>
                  <a:pt x="0" y="0"/>
                </a:moveTo>
                <a:lnTo>
                  <a:pt x="717254" y="0"/>
                </a:lnTo>
                <a:lnTo>
                  <a:pt x="717254" y="722675"/>
                </a:lnTo>
                <a:lnTo>
                  <a:pt x="0" y="722675"/>
                </a:lnTo>
                <a:lnTo>
                  <a:pt x="0" y="0"/>
                </a:lnTo>
                <a:close/>
              </a:path>
            </a:pathLst>
          </a:custGeom>
          <a:blipFill>
            <a:blip r:embed="rId4"/>
            <a:stretch>
              <a:fillRect l="0" t="0" r="0" b="0"/>
            </a:stretch>
          </a:blipFill>
        </p:spPr>
      </p:sp>
      <p:sp>
        <p:nvSpPr>
          <p:cNvPr name="Freeform 6" id="6"/>
          <p:cNvSpPr/>
          <p:nvPr/>
        </p:nvSpPr>
        <p:spPr>
          <a:xfrm flipH="false" flipV="false" rot="0">
            <a:off x="10629201" y="1940543"/>
            <a:ext cx="717254" cy="722674"/>
          </a:xfrm>
          <a:custGeom>
            <a:avLst/>
            <a:gdLst/>
            <a:ahLst/>
            <a:cxnLst/>
            <a:rect r="r" b="b" t="t" l="l"/>
            <a:pathLst>
              <a:path h="722674" w="717254">
                <a:moveTo>
                  <a:pt x="0" y="0"/>
                </a:moveTo>
                <a:lnTo>
                  <a:pt x="717254" y="0"/>
                </a:lnTo>
                <a:lnTo>
                  <a:pt x="717254" y="722674"/>
                </a:lnTo>
                <a:lnTo>
                  <a:pt x="0" y="722674"/>
                </a:lnTo>
                <a:lnTo>
                  <a:pt x="0" y="0"/>
                </a:lnTo>
                <a:close/>
              </a:path>
            </a:pathLst>
          </a:custGeom>
          <a:blipFill>
            <a:blip r:embed="rId4"/>
            <a:stretch>
              <a:fillRect l="0" t="0" r="0" b="0"/>
            </a:stretch>
          </a:blipFill>
        </p:spPr>
      </p:sp>
      <p:sp>
        <p:nvSpPr>
          <p:cNvPr name="Freeform 7" id="7"/>
          <p:cNvSpPr/>
          <p:nvPr/>
        </p:nvSpPr>
        <p:spPr>
          <a:xfrm flipH="false" flipV="false" rot="0">
            <a:off x="10987828" y="1713289"/>
            <a:ext cx="1256063" cy="1359911"/>
          </a:xfrm>
          <a:custGeom>
            <a:avLst/>
            <a:gdLst/>
            <a:ahLst/>
            <a:cxnLst/>
            <a:rect r="r" b="b" t="t" l="l"/>
            <a:pathLst>
              <a:path h="1359911" w="1256063">
                <a:moveTo>
                  <a:pt x="0" y="0"/>
                </a:moveTo>
                <a:lnTo>
                  <a:pt x="1256063" y="0"/>
                </a:lnTo>
                <a:lnTo>
                  <a:pt x="1256063" y="1359911"/>
                </a:lnTo>
                <a:lnTo>
                  <a:pt x="0" y="13599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531239" y="1745090"/>
            <a:ext cx="1113580" cy="1113580"/>
          </a:xfrm>
          <a:custGeom>
            <a:avLst/>
            <a:gdLst/>
            <a:ahLst/>
            <a:cxnLst/>
            <a:rect r="r" b="b" t="t" l="l"/>
            <a:pathLst>
              <a:path h="1113580" w="1113580">
                <a:moveTo>
                  <a:pt x="0" y="0"/>
                </a:moveTo>
                <a:lnTo>
                  <a:pt x="1113580" y="0"/>
                </a:lnTo>
                <a:lnTo>
                  <a:pt x="1113580" y="1113580"/>
                </a:lnTo>
                <a:lnTo>
                  <a:pt x="0" y="11135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570930" y="3365997"/>
            <a:ext cx="8573070" cy="7064828"/>
          </a:xfrm>
          <a:prstGeom prst="rect">
            <a:avLst/>
          </a:prstGeom>
        </p:spPr>
        <p:txBody>
          <a:bodyPr anchor="t" rtlCol="false" tIns="0" lIns="0" bIns="0" rIns="0">
            <a:spAutoFit/>
          </a:bodyPr>
          <a:lstStyle/>
          <a:p>
            <a:pPr algn="l" marL="512865" indent="-256432" lvl="1">
              <a:lnSpc>
                <a:spcPts val="3325"/>
              </a:lnSpc>
              <a:buFont typeface="Arial"/>
              <a:buChar char="•"/>
            </a:pPr>
            <a:r>
              <a:rPr lang="en-US" sz="2375">
                <a:solidFill>
                  <a:srgbClr val="FBF9F1"/>
                </a:solidFill>
                <a:latin typeface="Lato"/>
                <a:ea typeface="Lato"/>
                <a:cs typeface="Lato"/>
                <a:sym typeface="Lato"/>
              </a:rPr>
              <a:t>Student movement and visitor records are maintained manually in physical registers.</a:t>
            </a:r>
          </a:p>
          <a:p>
            <a:pPr algn="l">
              <a:lnSpc>
                <a:spcPts val="3325"/>
              </a:lnSpc>
            </a:pPr>
          </a:p>
          <a:p>
            <a:pPr algn="l" marL="512865" indent="-256432" lvl="1">
              <a:lnSpc>
                <a:spcPts val="3325"/>
              </a:lnSpc>
              <a:buFont typeface="Arial"/>
              <a:buChar char="•"/>
            </a:pPr>
            <a:r>
              <a:rPr lang="en-US" sz="2375">
                <a:solidFill>
                  <a:srgbClr val="FBF9F1"/>
                </a:solidFill>
                <a:latin typeface="Lato"/>
                <a:ea typeface="Lato"/>
                <a:cs typeface="Lato"/>
                <a:sym typeface="Lato"/>
              </a:rPr>
              <a:t>Wardens record student leave requests in a book and inform parents, but there is no structured way for parents to send approval or rejection messages.</a:t>
            </a:r>
          </a:p>
          <a:p>
            <a:pPr algn="l">
              <a:lnSpc>
                <a:spcPts val="3325"/>
              </a:lnSpc>
            </a:pPr>
          </a:p>
          <a:p>
            <a:pPr algn="l" marL="512865" indent="-256432" lvl="1">
              <a:lnSpc>
                <a:spcPts val="3325"/>
              </a:lnSpc>
              <a:buFont typeface="Arial"/>
              <a:buChar char="•"/>
            </a:pPr>
            <a:r>
              <a:rPr lang="en-US" sz="2375">
                <a:solidFill>
                  <a:srgbClr val="FBF9F1"/>
                </a:solidFill>
                <a:latin typeface="Lato"/>
                <a:ea typeface="Lato"/>
                <a:cs typeface="Lato"/>
                <a:sym typeface="Lato"/>
              </a:rPr>
              <a:t>The watchm</a:t>
            </a:r>
            <a:r>
              <a:rPr lang="en-US" sz="2375">
                <a:solidFill>
                  <a:srgbClr val="FBF9F1"/>
                </a:solidFill>
                <a:latin typeface="Lato"/>
                <a:ea typeface="Lato"/>
                <a:cs typeface="Lato"/>
                <a:sym typeface="Lato"/>
              </a:rPr>
              <a:t>an verifies student exits manually based on written records or verbal confirmation.</a:t>
            </a:r>
          </a:p>
          <a:p>
            <a:pPr algn="l">
              <a:lnSpc>
                <a:spcPts val="3325"/>
              </a:lnSpc>
            </a:pPr>
          </a:p>
          <a:p>
            <a:pPr algn="l" marL="512865" indent="-256432" lvl="1">
              <a:lnSpc>
                <a:spcPts val="3325"/>
              </a:lnSpc>
              <a:buFont typeface="Arial"/>
              <a:buChar char="•"/>
            </a:pPr>
            <a:r>
              <a:rPr lang="en-US" sz="2375">
                <a:solidFill>
                  <a:srgbClr val="FBF9F1"/>
                </a:solidFill>
                <a:latin typeface="Lato"/>
                <a:ea typeface="Lato"/>
                <a:cs typeface="Lato"/>
                <a:sym typeface="Lato"/>
              </a:rPr>
              <a:t>Visitor details are written in a register, making retrieval and verification difficult.</a:t>
            </a:r>
          </a:p>
          <a:p>
            <a:pPr algn="l">
              <a:lnSpc>
                <a:spcPts val="3325"/>
              </a:lnSpc>
            </a:pPr>
          </a:p>
          <a:p>
            <a:pPr algn="l" marL="512865" indent="-256432" lvl="1">
              <a:lnSpc>
                <a:spcPts val="3325"/>
              </a:lnSpc>
              <a:buFont typeface="Arial"/>
              <a:buChar char="•"/>
            </a:pPr>
            <a:r>
              <a:rPr lang="en-US" sz="2375">
                <a:solidFill>
                  <a:srgbClr val="FBF9F1"/>
                </a:solidFill>
                <a:latin typeface="Lato"/>
                <a:ea typeface="Lato"/>
                <a:cs typeface="Lato"/>
                <a:sym typeface="Lato"/>
              </a:rPr>
              <a:t>Daily reports are entered into a diary, making it hard to search for specific information.</a:t>
            </a:r>
          </a:p>
          <a:p>
            <a:pPr algn="l">
              <a:lnSpc>
                <a:spcPts val="3325"/>
              </a:lnSpc>
            </a:pPr>
          </a:p>
          <a:p>
            <a:pPr algn="l">
              <a:lnSpc>
                <a:spcPts val="3325"/>
              </a:lnSpc>
            </a:pPr>
          </a:p>
        </p:txBody>
      </p:sp>
      <p:sp>
        <p:nvSpPr>
          <p:cNvPr name="TextBox 10" id="10"/>
          <p:cNvSpPr txBox="true"/>
          <p:nvPr/>
        </p:nvSpPr>
        <p:spPr>
          <a:xfrm rot="0">
            <a:off x="1387327" y="633484"/>
            <a:ext cx="10084938" cy="790432"/>
          </a:xfrm>
          <a:prstGeom prst="rect">
            <a:avLst/>
          </a:prstGeom>
        </p:spPr>
        <p:txBody>
          <a:bodyPr anchor="t" rtlCol="false" tIns="0" lIns="0" bIns="0" rIns="0">
            <a:spAutoFit/>
          </a:bodyPr>
          <a:lstStyle/>
          <a:p>
            <a:pPr algn="l">
              <a:lnSpc>
                <a:spcPts val="5705"/>
              </a:lnSpc>
            </a:pPr>
            <a:r>
              <a:rPr lang="en-US" sz="5186" b="true">
                <a:solidFill>
                  <a:srgbClr val="FBF9F1"/>
                </a:solidFill>
                <a:latin typeface="Poppins Bold"/>
                <a:ea typeface="Poppins Bold"/>
                <a:cs typeface="Poppins Bold"/>
                <a:sym typeface="Poppins Bold"/>
              </a:rPr>
              <a:t>SYSTEM STUDY</a:t>
            </a:r>
          </a:p>
        </p:txBody>
      </p:sp>
      <p:sp>
        <p:nvSpPr>
          <p:cNvPr name="TextBox 11" id="11"/>
          <p:cNvSpPr txBox="true"/>
          <p:nvPr/>
        </p:nvSpPr>
        <p:spPr>
          <a:xfrm rot="0">
            <a:off x="14677477" y="9592432"/>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6</a:t>
            </a:r>
          </a:p>
        </p:txBody>
      </p:sp>
      <p:sp>
        <p:nvSpPr>
          <p:cNvPr name="TextBox 12" id="12"/>
          <p:cNvSpPr txBox="true"/>
          <p:nvPr/>
        </p:nvSpPr>
        <p:spPr>
          <a:xfrm rot="0">
            <a:off x="2789771" y="2013561"/>
            <a:ext cx="6795613" cy="614015"/>
          </a:xfrm>
          <a:prstGeom prst="rect">
            <a:avLst/>
          </a:prstGeom>
        </p:spPr>
        <p:txBody>
          <a:bodyPr anchor="t" rtlCol="false" tIns="0" lIns="0" bIns="0" rIns="0">
            <a:spAutoFit/>
          </a:bodyPr>
          <a:lstStyle/>
          <a:p>
            <a:pPr algn="l">
              <a:lnSpc>
                <a:spcPts val="5024"/>
              </a:lnSpc>
              <a:spcBef>
                <a:spcPct val="0"/>
              </a:spcBef>
            </a:pPr>
            <a:r>
              <a:rPr lang="en-US" b="true" sz="3588">
                <a:solidFill>
                  <a:srgbClr val="FBF9F1"/>
                </a:solidFill>
                <a:latin typeface="Lato Bold"/>
                <a:ea typeface="Lato Bold"/>
                <a:cs typeface="Lato Bold"/>
                <a:sym typeface="Lato Bold"/>
              </a:rPr>
              <a:t>Existing  System</a:t>
            </a:r>
          </a:p>
        </p:txBody>
      </p:sp>
      <p:sp>
        <p:nvSpPr>
          <p:cNvPr name="TextBox 13" id="13"/>
          <p:cNvSpPr txBox="true"/>
          <p:nvPr/>
        </p:nvSpPr>
        <p:spPr>
          <a:xfrm rot="0">
            <a:off x="9922936" y="3025575"/>
            <a:ext cx="7983844" cy="7745671"/>
          </a:xfrm>
          <a:prstGeom prst="rect">
            <a:avLst/>
          </a:prstGeom>
        </p:spPr>
        <p:txBody>
          <a:bodyPr anchor="t" rtlCol="false" tIns="0" lIns="0" bIns="0" rIns="0">
            <a:spAutoFit/>
          </a:bodyPr>
          <a:lstStyle/>
          <a:p>
            <a:pPr algn="l" marL="477616" indent="-238808" lvl="1">
              <a:lnSpc>
                <a:spcPts val="3097"/>
              </a:lnSpc>
              <a:buFont typeface="Arial"/>
              <a:buChar char="•"/>
            </a:pPr>
            <a:r>
              <a:rPr lang="en-US" sz="2212">
                <a:solidFill>
                  <a:srgbClr val="FBF9F1"/>
                </a:solidFill>
                <a:latin typeface="Lato"/>
                <a:ea typeface="Lato"/>
                <a:cs typeface="Lato"/>
                <a:sym typeface="Lato"/>
              </a:rPr>
              <a:t>A digital system replaces manual registers, ensuring accurate and efficient record-keeping.</a:t>
            </a:r>
          </a:p>
          <a:p>
            <a:pPr algn="l">
              <a:lnSpc>
                <a:spcPts val="3097"/>
              </a:lnSpc>
            </a:pPr>
          </a:p>
          <a:p>
            <a:pPr algn="l" marL="477616" indent="-238808" lvl="1">
              <a:lnSpc>
                <a:spcPts val="3097"/>
              </a:lnSpc>
              <a:buFont typeface="Arial"/>
              <a:buChar char="•"/>
            </a:pPr>
            <a:r>
              <a:rPr lang="en-US" sz="2212">
                <a:solidFill>
                  <a:srgbClr val="FBF9F1"/>
                </a:solidFill>
                <a:latin typeface="Lato"/>
                <a:ea typeface="Lato"/>
                <a:cs typeface="Lato"/>
                <a:sym typeface="Lato"/>
              </a:rPr>
              <a:t>Wardens can add student details and send leave requests to parents via an automated notification system.</a:t>
            </a:r>
          </a:p>
          <a:p>
            <a:pPr algn="l">
              <a:lnSpc>
                <a:spcPts val="3097"/>
              </a:lnSpc>
            </a:pPr>
          </a:p>
          <a:p>
            <a:pPr algn="l" marL="477616" indent="-238808" lvl="1">
              <a:lnSpc>
                <a:spcPts val="3097"/>
              </a:lnSpc>
              <a:buFont typeface="Arial"/>
              <a:buChar char="•"/>
            </a:pPr>
            <a:r>
              <a:rPr lang="en-US" sz="2212">
                <a:solidFill>
                  <a:srgbClr val="FBF9F1"/>
                </a:solidFill>
                <a:latin typeface="Lato"/>
                <a:ea typeface="Lato"/>
                <a:cs typeface="Lato"/>
                <a:sym typeface="Lato"/>
              </a:rPr>
              <a:t>Parents can approve or reject the leave request, ensuring proper co</a:t>
            </a:r>
            <a:r>
              <a:rPr lang="en-US" sz="2212">
                <a:solidFill>
                  <a:srgbClr val="FBF9F1"/>
                </a:solidFill>
                <a:latin typeface="Lato"/>
                <a:ea typeface="Lato"/>
                <a:cs typeface="Lato"/>
                <a:sym typeface="Lato"/>
              </a:rPr>
              <a:t>nsent before a student exits.</a:t>
            </a:r>
          </a:p>
          <a:p>
            <a:pPr algn="l">
              <a:lnSpc>
                <a:spcPts val="3097"/>
              </a:lnSpc>
            </a:pPr>
          </a:p>
          <a:p>
            <a:pPr algn="l" marL="477616" indent="-238808" lvl="1">
              <a:lnSpc>
                <a:spcPts val="3097"/>
              </a:lnSpc>
              <a:buFont typeface="Arial"/>
              <a:buChar char="•"/>
            </a:pPr>
            <a:r>
              <a:rPr lang="en-US" sz="2212">
                <a:solidFill>
                  <a:srgbClr val="FBF9F1"/>
                </a:solidFill>
                <a:latin typeface="Lato"/>
                <a:ea typeface="Lato"/>
                <a:cs typeface="Lato"/>
                <a:sym typeface="Lato"/>
              </a:rPr>
              <a:t>Once approved, the warden forwards the details to the watchman, who can access the list of approved students digitally.</a:t>
            </a:r>
          </a:p>
          <a:p>
            <a:pPr algn="l">
              <a:lnSpc>
                <a:spcPts val="3097"/>
              </a:lnSpc>
            </a:pPr>
          </a:p>
          <a:p>
            <a:pPr algn="l" marL="477616" indent="-238808" lvl="1">
              <a:lnSpc>
                <a:spcPts val="3097"/>
              </a:lnSpc>
              <a:buFont typeface="Arial"/>
              <a:buChar char="•"/>
            </a:pPr>
            <a:r>
              <a:rPr lang="en-US" sz="2212">
                <a:solidFill>
                  <a:srgbClr val="FBF9F1"/>
                </a:solidFill>
                <a:latin typeface="Lato"/>
                <a:ea typeface="Lato"/>
                <a:cs typeface="Lato"/>
                <a:sym typeface="Lato"/>
              </a:rPr>
              <a:t>The watchman can record visitor details electronically and submit daily reports digitally.</a:t>
            </a:r>
          </a:p>
          <a:p>
            <a:pPr algn="l">
              <a:lnSpc>
                <a:spcPts val="3097"/>
              </a:lnSpc>
            </a:pPr>
          </a:p>
          <a:p>
            <a:pPr algn="l" marL="477616" indent="-238808" lvl="1">
              <a:lnSpc>
                <a:spcPts val="3097"/>
              </a:lnSpc>
              <a:buFont typeface="Arial"/>
              <a:buChar char="•"/>
            </a:pPr>
            <a:r>
              <a:rPr lang="en-US" sz="2212">
                <a:solidFill>
                  <a:srgbClr val="FBF9F1"/>
                </a:solidFill>
                <a:latin typeface="Lato"/>
                <a:ea typeface="Lato"/>
                <a:cs typeface="Lato"/>
                <a:sym typeface="Lato"/>
              </a:rPr>
              <a:t>The admin can search and access student and visitor records in a structured format, ensuring easy retrieval.</a:t>
            </a:r>
          </a:p>
          <a:p>
            <a:pPr algn="l">
              <a:lnSpc>
                <a:spcPts val="3097"/>
              </a:lnSpc>
            </a:pPr>
          </a:p>
          <a:p>
            <a:pPr algn="l">
              <a:lnSpc>
                <a:spcPts val="3097"/>
              </a:lnSpc>
            </a:pPr>
          </a:p>
        </p:txBody>
      </p:sp>
      <p:sp>
        <p:nvSpPr>
          <p:cNvPr name="TextBox 14" id="14"/>
          <p:cNvSpPr txBox="true"/>
          <p:nvPr/>
        </p:nvSpPr>
        <p:spPr>
          <a:xfrm rot="0">
            <a:off x="12386766" y="2081003"/>
            <a:ext cx="6795613" cy="614015"/>
          </a:xfrm>
          <a:prstGeom prst="rect">
            <a:avLst/>
          </a:prstGeom>
        </p:spPr>
        <p:txBody>
          <a:bodyPr anchor="t" rtlCol="false" tIns="0" lIns="0" bIns="0" rIns="0">
            <a:spAutoFit/>
          </a:bodyPr>
          <a:lstStyle/>
          <a:p>
            <a:pPr algn="l">
              <a:lnSpc>
                <a:spcPts val="5024"/>
              </a:lnSpc>
              <a:spcBef>
                <a:spcPct val="0"/>
              </a:spcBef>
            </a:pPr>
            <a:r>
              <a:rPr lang="en-US" b="true" sz="3588">
                <a:solidFill>
                  <a:srgbClr val="FBF9F1"/>
                </a:solidFill>
                <a:latin typeface="Lato Bold"/>
                <a:ea typeface="Lato Bold"/>
                <a:cs typeface="Lato Bold"/>
                <a:sym typeface="Lato Bold"/>
              </a:rPr>
              <a:t>Proposed  System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229290" y="1775760"/>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Freeform 3" id="3"/>
          <p:cNvSpPr/>
          <p:nvPr/>
        </p:nvSpPr>
        <p:spPr>
          <a:xfrm flipH="false" flipV="false" rot="0">
            <a:off x="-11250586" y="-3933278"/>
            <a:ext cx="13745171" cy="10034901"/>
          </a:xfrm>
          <a:custGeom>
            <a:avLst/>
            <a:gdLst/>
            <a:ahLst/>
            <a:cxnLst/>
            <a:rect r="r" b="b" t="t" l="l"/>
            <a:pathLst>
              <a:path h="10034901" w="13745171">
                <a:moveTo>
                  <a:pt x="0" y="0"/>
                </a:moveTo>
                <a:lnTo>
                  <a:pt x="13745171" y="0"/>
                </a:lnTo>
                <a:lnTo>
                  <a:pt x="13745171" y="10034902"/>
                </a:lnTo>
                <a:lnTo>
                  <a:pt x="0" y="10034902"/>
                </a:lnTo>
                <a:lnTo>
                  <a:pt x="0" y="0"/>
                </a:lnTo>
                <a:close/>
              </a:path>
            </a:pathLst>
          </a:custGeom>
          <a:blipFill>
            <a:blip r:embed="rId2"/>
            <a:stretch>
              <a:fillRect l="-523" t="0" r="-523" b="0"/>
            </a:stretch>
          </a:blipFill>
        </p:spPr>
      </p:sp>
      <p:grpSp>
        <p:nvGrpSpPr>
          <p:cNvPr name="Group 4" id="4"/>
          <p:cNvGrpSpPr/>
          <p:nvPr/>
        </p:nvGrpSpPr>
        <p:grpSpPr>
          <a:xfrm rot="0">
            <a:off x="1593050" y="435743"/>
            <a:ext cx="14884568" cy="839660"/>
            <a:chOff x="0" y="0"/>
            <a:chExt cx="3920216" cy="221145"/>
          </a:xfrm>
        </p:grpSpPr>
        <p:sp>
          <p:nvSpPr>
            <p:cNvPr name="Freeform 5" id="5"/>
            <p:cNvSpPr/>
            <p:nvPr/>
          </p:nvSpPr>
          <p:spPr>
            <a:xfrm flipH="false" flipV="false" rot="0">
              <a:off x="0" y="0"/>
              <a:ext cx="3920216" cy="221145"/>
            </a:xfrm>
            <a:custGeom>
              <a:avLst/>
              <a:gdLst/>
              <a:ahLst/>
              <a:cxnLst/>
              <a:rect r="r" b="b" t="t" l="l"/>
              <a:pathLst>
                <a:path h="221145" w="3920216">
                  <a:moveTo>
                    <a:pt x="31208" y="0"/>
                  </a:moveTo>
                  <a:lnTo>
                    <a:pt x="3889008" y="0"/>
                  </a:lnTo>
                  <a:cubicBezTo>
                    <a:pt x="3897285" y="0"/>
                    <a:pt x="3905222" y="3288"/>
                    <a:pt x="3911075" y="9141"/>
                  </a:cubicBezTo>
                  <a:cubicBezTo>
                    <a:pt x="3916928" y="14993"/>
                    <a:pt x="3920216" y="22931"/>
                    <a:pt x="3920216" y="31208"/>
                  </a:cubicBezTo>
                  <a:lnTo>
                    <a:pt x="3920216" y="189937"/>
                  </a:lnTo>
                  <a:cubicBezTo>
                    <a:pt x="3920216" y="198214"/>
                    <a:pt x="3916928" y="206152"/>
                    <a:pt x="3911075" y="212004"/>
                  </a:cubicBezTo>
                  <a:cubicBezTo>
                    <a:pt x="3905222" y="217857"/>
                    <a:pt x="3897285" y="221145"/>
                    <a:pt x="3889008" y="221145"/>
                  </a:cubicBezTo>
                  <a:lnTo>
                    <a:pt x="31208" y="221145"/>
                  </a:lnTo>
                  <a:cubicBezTo>
                    <a:pt x="22931" y="221145"/>
                    <a:pt x="14993" y="217857"/>
                    <a:pt x="9141" y="212004"/>
                  </a:cubicBezTo>
                  <a:cubicBezTo>
                    <a:pt x="3288" y="206152"/>
                    <a:pt x="0" y="198214"/>
                    <a:pt x="0" y="189937"/>
                  </a:cubicBezTo>
                  <a:lnTo>
                    <a:pt x="0" y="31208"/>
                  </a:lnTo>
                  <a:cubicBezTo>
                    <a:pt x="0" y="22931"/>
                    <a:pt x="3288" y="14993"/>
                    <a:pt x="9141" y="9141"/>
                  </a:cubicBezTo>
                  <a:cubicBezTo>
                    <a:pt x="14993" y="3288"/>
                    <a:pt x="22931" y="0"/>
                    <a:pt x="31208" y="0"/>
                  </a:cubicBezTo>
                  <a:close/>
                </a:path>
              </a:pathLst>
            </a:custGeom>
            <a:solidFill>
              <a:srgbClr val="000000"/>
            </a:solidFill>
            <a:ln w="38100" cap="rnd">
              <a:solidFill>
                <a:srgbClr val="FFD944"/>
              </a:solidFill>
              <a:prstDash val="solid"/>
              <a:round/>
            </a:ln>
          </p:spPr>
        </p:sp>
        <p:sp>
          <p:nvSpPr>
            <p:cNvPr name="TextBox 6" id="6"/>
            <p:cNvSpPr txBox="true"/>
            <p:nvPr/>
          </p:nvSpPr>
          <p:spPr>
            <a:xfrm>
              <a:off x="0" y="-38100"/>
              <a:ext cx="3920216" cy="25924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048244" y="626973"/>
            <a:ext cx="446341" cy="457200"/>
          </a:xfrm>
          <a:custGeom>
            <a:avLst/>
            <a:gdLst/>
            <a:ahLst/>
            <a:cxnLst/>
            <a:rect r="r" b="b" t="t" l="l"/>
            <a:pathLst>
              <a:path h="457200" w="446341">
                <a:moveTo>
                  <a:pt x="0" y="0"/>
                </a:moveTo>
                <a:lnTo>
                  <a:pt x="446341" y="0"/>
                </a:lnTo>
                <a:lnTo>
                  <a:pt x="446341" y="457200"/>
                </a:lnTo>
                <a:lnTo>
                  <a:pt x="0" y="457200"/>
                </a:lnTo>
                <a:lnTo>
                  <a:pt x="0" y="0"/>
                </a:lnTo>
                <a:close/>
              </a:path>
            </a:pathLst>
          </a:custGeom>
          <a:blipFill>
            <a:blip r:embed="rId3"/>
            <a:stretch>
              <a:fillRect l="0" t="0" r="0" b="0"/>
            </a:stretch>
          </a:blipFill>
        </p:spPr>
      </p:sp>
      <p:sp>
        <p:nvSpPr>
          <p:cNvPr name="Freeform 8" id="8"/>
          <p:cNvSpPr/>
          <p:nvPr/>
        </p:nvSpPr>
        <p:spPr>
          <a:xfrm flipH="false" flipV="false" rot="0">
            <a:off x="2810985" y="1466527"/>
            <a:ext cx="12290891" cy="8439249"/>
          </a:xfrm>
          <a:custGeom>
            <a:avLst/>
            <a:gdLst/>
            <a:ahLst/>
            <a:cxnLst/>
            <a:rect r="r" b="b" t="t" l="l"/>
            <a:pathLst>
              <a:path h="8439249" w="12290891">
                <a:moveTo>
                  <a:pt x="0" y="0"/>
                </a:moveTo>
                <a:lnTo>
                  <a:pt x="12290891" y="0"/>
                </a:lnTo>
                <a:lnTo>
                  <a:pt x="12290891" y="8439249"/>
                </a:lnTo>
                <a:lnTo>
                  <a:pt x="0" y="8439249"/>
                </a:lnTo>
                <a:lnTo>
                  <a:pt x="0" y="0"/>
                </a:lnTo>
                <a:close/>
              </a:path>
            </a:pathLst>
          </a:custGeom>
          <a:blipFill>
            <a:blip r:embed="rId4"/>
            <a:stretch>
              <a:fillRect l="0" t="-1179" r="0" b="-1179"/>
            </a:stretch>
          </a:blipFill>
        </p:spPr>
      </p:sp>
      <p:sp>
        <p:nvSpPr>
          <p:cNvPr name="TextBox 9" id="9"/>
          <p:cNvSpPr txBox="true"/>
          <p:nvPr/>
        </p:nvSpPr>
        <p:spPr>
          <a:xfrm rot="0">
            <a:off x="3058457" y="652373"/>
            <a:ext cx="13089220"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SYSTEM FLOW DIAGRAM</a:t>
            </a:r>
          </a:p>
        </p:txBody>
      </p:sp>
      <p:sp>
        <p:nvSpPr>
          <p:cNvPr name="TextBox 10" id="10"/>
          <p:cNvSpPr txBox="true"/>
          <p:nvPr/>
        </p:nvSpPr>
        <p:spPr>
          <a:xfrm rot="0">
            <a:off x="14685568" y="9361436"/>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238815" y="1775760"/>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Freeform 3" id="3"/>
          <p:cNvSpPr/>
          <p:nvPr/>
        </p:nvSpPr>
        <p:spPr>
          <a:xfrm flipH="false" flipV="false" rot="0">
            <a:off x="-11250586" y="-3933278"/>
            <a:ext cx="13745171" cy="10034901"/>
          </a:xfrm>
          <a:custGeom>
            <a:avLst/>
            <a:gdLst/>
            <a:ahLst/>
            <a:cxnLst/>
            <a:rect r="r" b="b" t="t" l="l"/>
            <a:pathLst>
              <a:path h="10034901" w="13745171">
                <a:moveTo>
                  <a:pt x="0" y="0"/>
                </a:moveTo>
                <a:lnTo>
                  <a:pt x="13745171" y="0"/>
                </a:lnTo>
                <a:lnTo>
                  <a:pt x="13745171" y="10034902"/>
                </a:lnTo>
                <a:lnTo>
                  <a:pt x="0" y="10034902"/>
                </a:lnTo>
                <a:lnTo>
                  <a:pt x="0" y="0"/>
                </a:lnTo>
                <a:close/>
              </a:path>
            </a:pathLst>
          </a:custGeom>
          <a:blipFill>
            <a:blip r:embed="rId2"/>
            <a:stretch>
              <a:fillRect l="-523" t="0" r="-523" b="0"/>
            </a:stretch>
          </a:blipFill>
        </p:spPr>
      </p:sp>
      <p:grpSp>
        <p:nvGrpSpPr>
          <p:cNvPr name="Group 4" id="4"/>
          <p:cNvGrpSpPr/>
          <p:nvPr/>
        </p:nvGrpSpPr>
        <p:grpSpPr>
          <a:xfrm rot="0">
            <a:off x="1593050" y="435743"/>
            <a:ext cx="14884568" cy="839660"/>
            <a:chOff x="0" y="0"/>
            <a:chExt cx="3920216" cy="221145"/>
          </a:xfrm>
        </p:grpSpPr>
        <p:sp>
          <p:nvSpPr>
            <p:cNvPr name="Freeform 5" id="5"/>
            <p:cNvSpPr/>
            <p:nvPr/>
          </p:nvSpPr>
          <p:spPr>
            <a:xfrm flipH="false" flipV="false" rot="0">
              <a:off x="0" y="0"/>
              <a:ext cx="3920216" cy="221145"/>
            </a:xfrm>
            <a:custGeom>
              <a:avLst/>
              <a:gdLst/>
              <a:ahLst/>
              <a:cxnLst/>
              <a:rect r="r" b="b" t="t" l="l"/>
              <a:pathLst>
                <a:path h="221145" w="3920216">
                  <a:moveTo>
                    <a:pt x="31208" y="0"/>
                  </a:moveTo>
                  <a:lnTo>
                    <a:pt x="3889008" y="0"/>
                  </a:lnTo>
                  <a:cubicBezTo>
                    <a:pt x="3897285" y="0"/>
                    <a:pt x="3905222" y="3288"/>
                    <a:pt x="3911075" y="9141"/>
                  </a:cubicBezTo>
                  <a:cubicBezTo>
                    <a:pt x="3916928" y="14993"/>
                    <a:pt x="3920216" y="22931"/>
                    <a:pt x="3920216" y="31208"/>
                  </a:cubicBezTo>
                  <a:lnTo>
                    <a:pt x="3920216" y="189937"/>
                  </a:lnTo>
                  <a:cubicBezTo>
                    <a:pt x="3920216" y="198214"/>
                    <a:pt x="3916928" y="206152"/>
                    <a:pt x="3911075" y="212004"/>
                  </a:cubicBezTo>
                  <a:cubicBezTo>
                    <a:pt x="3905222" y="217857"/>
                    <a:pt x="3897285" y="221145"/>
                    <a:pt x="3889008" y="221145"/>
                  </a:cubicBezTo>
                  <a:lnTo>
                    <a:pt x="31208" y="221145"/>
                  </a:lnTo>
                  <a:cubicBezTo>
                    <a:pt x="22931" y="221145"/>
                    <a:pt x="14993" y="217857"/>
                    <a:pt x="9141" y="212004"/>
                  </a:cubicBezTo>
                  <a:cubicBezTo>
                    <a:pt x="3288" y="206152"/>
                    <a:pt x="0" y="198214"/>
                    <a:pt x="0" y="189937"/>
                  </a:cubicBezTo>
                  <a:lnTo>
                    <a:pt x="0" y="31208"/>
                  </a:lnTo>
                  <a:cubicBezTo>
                    <a:pt x="0" y="22931"/>
                    <a:pt x="3288" y="14993"/>
                    <a:pt x="9141" y="9141"/>
                  </a:cubicBezTo>
                  <a:cubicBezTo>
                    <a:pt x="14993" y="3288"/>
                    <a:pt x="22931" y="0"/>
                    <a:pt x="31208" y="0"/>
                  </a:cubicBezTo>
                  <a:close/>
                </a:path>
              </a:pathLst>
            </a:custGeom>
            <a:solidFill>
              <a:srgbClr val="000000"/>
            </a:solidFill>
            <a:ln w="38100" cap="rnd">
              <a:solidFill>
                <a:srgbClr val="FFD944"/>
              </a:solidFill>
              <a:prstDash val="solid"/>
              <a:round/>
            </a:ln>
          </p:spPr>
        </p:sp>
        <p:sp>
          <p:nvSpPr>
            <p:cNvPr name="TextBox 6" id="6"/>
            <p:cNvSpPr txBox="true"/>
            <p:nvPr/>
          </p:nvSpPr>
          <p:spPr>
            <a:xfrm>
              <a:off x="0" y="-38100"/>
              <a:ext cx="3920216" cy="25924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048244" y="626973"/>
            <a:ext cx="446341" cy="457200"/>
          </a:xfrm>
          <a:custGeom>
            <a:avLst/>
            <a:gdLst/>
            <a:ahLst/>
            <a:cxnLst/>
            <a:rect r="r" b="b" t="t" l="l"/>
            <a:pathLst>
              <a:path h="457200" w="446341">
                <a:moveTo>
                  <a:pt x="0" y="0"/>
                </a:moveTo>
                <a:lnTo>
                  <a:pt x="446341" y="0"/>
                </a:lnTo>
                <a:lnTo>
                  <a:pt x="446341" y="457200"/>
                </a:lnTo>
                <a:lnTo>
                  <a:pt x="0" y="457200"/>
                </a:lnTo>
                <a:lnTo>
                  <a:pt x="0" y="0"/>
                </a:lnTo>
                <a:close/>
              </a:path>
            </a:pathLst>
          </a:custGeom>
          <a:blipFill>
            <a:blip r:embed="rId3"/>
            <a:stretch>
              <a:fillRect l="0" t="0" r="0" b="0"/>
            </a:stretch>
          </a:blipFill>
        </p:spPr>
      </p:sp>
      <p:sp>
        <p:nvSpPr>
          <p:cNvPr name="Freeform 8" id="8"/>
          <p:cNvSpPr/>
          <p:nvPr/>
        </p:nvSpPr>
        <p:spPr>
          <a:xfrm flipH="false" flipV="false" rot="0">
            <a:off x="2341380" y="2219336"/>
            <a:ext cx="13387907" cy="6311648"/>
          </a:xfrm>
          <a:custGeom>
            <a:avLst/>
            <a:gdLst/>
            <a:ahLst/>
            <a:cxnLst/>
            <a:rect r="r" b="b" t="t" l="l"/>
            <a:pathLst>
              <a:path h="6311648" w="13387907">
                <a:moveTo>
                  <a:pt x="0" y="0"/>
                </a:moveTo>
                <a:lnTo>
                  <a:pt x="13387907" y="0"/>
                </a:lnTo>
                <a:lnTo>
                  <a:pt x="13387907" y="6311648"/>
                </a:lnTo>
                <a:lnTo>
                  <a:pt x="0" y="6311648"/>
                </a:lnTo>
                <a:lnTo>
                  <a:pt x="0" y="0"/>
                </a:lnTo>
                <a:close/>
              </a:path>
            </a:pathLst>
          </a:custGeom>
          <a:blipFill>
            <a:blip r:embed="rId4"/>
            <a:stretch>
              <a:fillRect l="0" t="0" r="0" b="0"/>
            </a:stretch>
          </a:blipFill>
        </p:spPr>
      </p:sp>
      <p:sp>
        <p:nvSpPr>
          <p:cNvPr name="TextBox 9" id="9"/>
          <p:cNvSpPr txBox="true"/>
          <p:nvPr/>
        </p:nvSpPr>
        <p:spPr>
          <a:xfrm rot="0">
            <a:off x="3058457" y="652373"/>
            <a:ext cx="5976877"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HOME PAGE </a:t>
            </a:r>
          </a:p>
        </p:txBody>
      </p:sp>
      <p:sp>
        <p:nvSpPr>
          <p:cNvPr name="TextBox 10" id="10"/>
          <p:cNvSpPr txBox="true"/>
          <p:nvPr/>
        </p:nvSpPr>
        <p:spPr>
          <a:xfrm rot="0">
            <a:off x="14652429" y="9407284"/>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229290" y="1775760"/>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Freeform 3" id="3"/>
          <p:cNvSpPr/>
          <p:nvPr/>
        </p:nvSpPr>
        <p:spPr>
          <a:xfrm flipH="false" flipV="false" rot="0">
            <a:off x="-11250586" y="-3933278"/>
            <a:ext cx="13745171" cy="10034901"/>
          </a:xfrm>
          <a:custGeom>
            <a:avLst/>
            <a:gdLst/>
            <a:ahLst/>
            <a:cxnLst/>
            <a:rect r="r" b="b" t="t" l="l"/>
            <a:pathLst>
              <a:path h="10034901" w="13745171">
                <a:moveTo>
                  <a:pt x="0" y="0"/>
                </a:moveTo>
                <a:lnTo>
                  <a:pt x="13745171" y="0"/>
                </a:lnTo>
                <a:lnTo>
                  <a:pt x="13745171" y="10034902"/>
                </a:lnTo>
                <a:lnTo>
                  <a:pt x="0" y="10034902"/>
                </a:lnTo>
                <a:lnTo>
                  <a:pt x="0" y="0"/>
                </a:lnTo>
                <a:close/>
              </a:path>
            </a:pathLst>
          </a:custGeom>
          <a:blipFill>
            <a:blip r:embed="rId2"/>
            <a:stretch>
              <a:fillRect l="-523" t="0" r="-523" b="0"/>
            </a:stretch>
          </a:blipFill>
        </p:spPr>
      </p:sp>
      <p:grpSp>
        <p:nvGrpSpPr>
          <p:cNvPr name="Group 4" id="4"/>
          <p:cNvGrpSpPr/>
          <p:nvPr/>
        </p:nvGrpSpPr>
        <p:grpSpPr>
          <a:xfrm rot="0">
            <a:off x="1593050" y="435743"/>
            <a:ext cx="14884568" cy="839660"/>
            <a:chOff x="0" y="0"/>
            <a:chExt cx="3920216" cy="221145"/>
          </a:xfrm>
        </p:grpSpPr>
        <p:sp>
          <p:nvSpPr>
            <p:cNvPr name="Freeform 5" id="5"/>
            <p:cNvSpPr/>
            <p:nvPr/>
          </p:nvSpPr>
          <p:spPr>
            <a:xfrm flipH="false" flipV="false" rot="0">
              <a:off x="0" y="0"/>
              <a:ext cx="3920216" cy="221145"/>
            </a:xfrm>
            <a:custGeom>
              <a:avLst/>
              <a:gdLst/>
              <a:ahLst/>
              <a:cxnLst/>
              <a:rect r="r" b="b" t="t" l="l"/>
              <a:pathLst>
                <a:path h="221145" w="3920216">
                  <a:moveTo>
                    <a:pt x="31208" y="0"/>
                  </a:moveTo>
                  <a:lnTo>
                    <a:pt x="3889008" y="0"/>
                  </a:lnTo>
                  <a:cubicBezTo>
                    <a:pt x="3897285" y="0"/>
                    <a:pt x="3905222" y="3288"/>
                    <a:pt x="3911075" y="9141"/>
                  </a:cubicBezTo>
                  <a:cubicBezTo>
                    <a:pt x="3916928" y="14993"/>
                    <a:pt x="3920216" y="22931"/>
                    <a:pt x="3920216" y="31208"/>
                  </a:cubicBezTo>
                  <a:lnTo>
                    <a:pt x="3920216" y="189937"/>
                  </a:lnTo>
                  <a:cubicBezTo>
                    <a:pt x="3920216" y="198214"/>
                    <a:pt x="3916928" y="206152"/>
                    <a:pt x="3911075" y="212004"/>
                  </a:cubicBezTo>
                  <a:cubicBezTo>
                    <a:pt x="3905222" y="217857"/>
                    <a:pt x="3897285" y="221145"/>
                    <a:pt x="3889008" y="221145"/>
                  </a:cubicBezTo>
                  <a:lnTo>
                    <a:pt x="31208" y="221145"/>
                  </a:lnTo>
                  <a:cubicBezTo>
                    <a:pt x="22931" y="221145"/>
                    <a:pt x="14993" y="217857"/>
                    <a:pt x="9141" y="212004"/>
                  </a:cubicBezTo>
                  <a:cubicBezTo>
                    <a:pt x="3288" y="206152"/>
                    <a:pt x="0" y="198214"/>
                    <a:pt x="0" y="189937"/>
                  </a:cubicBezTo>
                  <a:lnTo>
                    <a:pt x="0" y="31208"/>
                  </a:lnTo>
                  <a:cubicBezTo>
                    <a:pt x="0" y="22931"/>
                    <a:pt x="3288" y="14993"/>
                    <a:pt x="9141" y="9141"/>
                  </a:cubicBezTo>
                  <a:cubicBezTo>
                    <a:pt x="14993" y="3288"/>
                    <a:pt x="22931" y="0"/>
                    <a:pt x="31208" y="0"/>
                  </a:cubicBezTo>
                  <a:close/>
                </a:path>
              </a:pathLst>
            </a:custGeom>
            <a:solidFill>
              <a:srgbClr val="000000"/>
            </a:solidFill>
            <a:ln w="38100" cap="rnd">
              <a:solidFill>
                <a:srgbClr val="FFD944"/>
              </a:solidFill>
              <a:prstDash val="solid"/>
              <a:round/>
            </a:ln>
          </p:spPr>
        </p:sp>
        <p:sp>
          <p:nvSpPr>
            <p:cNvPr name="TextBox 6" id="6"/>
            <p:cNvSpPr txBox="true"/>
            <p:nvPr/>
          </p:nvSpPr>
          <p:spPr>
            <a:xfrm>
              <a:off x="0" y="-38100"/>
              <a:ext cx="3920216" cy="25924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048244" y="626973"/>
            <a:ext cx="446341" cy="457200"/>
          </a:xfrm>
          <a:custGeom>
            <a:avLst/>
            <a:gdLst/>
            <a:ahLst/>
            <a:cxnLst/>
            <a:rect r="r" b="b" t="t" l="l"/>
            <a:pathLst>
              <a:path h="457200" w="446341">
                <a:moveTo>
                  <a:pt x="0" y="0"/>
                </a:moveTo>
                <a:lnTo>
                  <a:pt x="446341" y="0"/>
                </a:lnTo>
                <a:lnTo>
                  <a:pt x="446341" y="457200"/>
                </a:lnTo>
                <a:lnTo>
                  <a:pt x="0" y="457200"/>
                </a:lnTo>
                <a:lnTo>
                  <a:pt x="0" y="0"/>
                </a:lnTo>
                <a:close/>
              </a:path>
            </a:pathLst>
          </a:custGeom>
          <a:blipFill>
            <a:blip r:embed="rId3"/>
            <a:stretch>
              <a:fillRect l="0" t="0" r="0" b="0"/>
            </a:stretch>
          </a:blipFill>
        </p:spPr>
      </p:sp>
      <p:sp>
        <p:nvSpPr>
          <p:cNvPr name="Freeform 8" id="8"/>
          <p:cNvSpPr/>
          <p:nvPr/>
        </p:nvSpPr>
        <p:spPr>
          <a:xfrm flipH="false" flipV="false" rot="0">
            <a:off x="400951" y="1775760"/>
            <a:ext cx="8330739" cy="3991068"/>
          </a:xfrm>
          <a:custGeom>
            <a:avLst/>
            <a:gdLst/>
            <a:ahLst/>
            <a:cxnLst/>
            <a:rect r="r" b="b" t="t" l="l"/>
            <a:pathLst>
              <a:path h="3991068" w="8330739">
                <a:moveTo>
                  <a:pt x="0" y="0"/>
                </a:moveTo>
                <a:lnTo>
                  <a:pt x="8330739" y="0"/>
                </a:lnTo>
                <a:lnTo>
                  <a:pt x="8330739" y="3991067"/>
                </a:lnTo>
                <a:lnTo>
                  <a:pt x="0" y="3991067"/>
                </a:lnTo>
                <a:lnTo>
                  <a:pt x="0" y="0"/>
                </a:lnTo>
                <a:close/>
              </a:path>
            </a:pathLst>
          </a:custGeom>
          <a:blipFill>
            <a:blip r:embed="rId4"/>
            <a:stretch>
              <a:fillRect l="0" t="0" r="0" b="0"/>
            </a:stretch>
          </a:blipFill>
        </p:spPr>
      </p:sp>
      <p:sp>
        <p:nvSpPr>
          <p:cNvPr name="Freeform 9" id="9"/>
          <p:cNvSpPr/>
          <p:nvPr/>
        </p:nvSpPr>
        <p:spPr>
          <a:xfrm flipH="false" flipV="false" rot="0">
            <a:off x="9238385" y="1775760"/>
            <a:ext cx="8440518" cy="3938908"/>
          </a:xfrm>
          <a:custGeom>
            <a:avLst/>
            <a:gdLst/>
            <a:ahLst/>
            <a:cxnLst/>
            <a:rect r="r" b="b" t="t" l="l"/>
            <a:pathLst>
              <a:path h="3938908" w="8440518">
                <a:moveTo>
                  <a:pt x="0" y="0"/>
                </a:moveTo>
                <a:lnTo>
                  <a:pt x="8440519" y="0"/>
                </a:lnTo>
                <a:lnTo>
                  <a:pt x="8440519" y="3938908"/>
                </a:lnTo>
                <a:lnTo>
                  <a:pt x="0" y="3938908"/>
                </a:lnTo>
                <a:lnTo>
                  <a:pt x="0" y="0"/>
                </a:lnTo>
                <a:close/>
              </a:path>
            </a:pathLst>
          </a:custGeom>
          <a:blipFill>
            <a:blip r:embed="rId5"/>
            <a:stretch>
              <a:fillRect l="0" t="0" r="0" b="0"/>
            </a:stretch>
          </a:blipFill>
        </p:spPr>
      </p:sp>
      <p:sp>
        <p:nvSpPr>
          <p:cNvPr name="Freeform 10" id="10"/>
          <p:cNvSpPr/>
          <p:nvPr/>
        </p:nvSpPr>
        <p:spPr>
          <a:xfrm flipH="false" flipV="false" rot="0">
            <a:off x="601781" y="6101624"/>
            <a:ext cx="8129909" cy="3680551"/>
          </a:xfrm>
          <a:custGeom>
            <a:avLst/>
            <a:gdLst/>
            <a:ahLst/>
            <a:cxnLst/>
            <a:rect r="r" b="b" t="t" l="l"/>
            <a:pathLst>
              <a:path h="3680551" w="8129909">
                <a:moveTo>
                  <a:pt x="0" y="0"/>
                </a:moveTo>
                <a:lnTo>
                  <a:pt x="8129909" y="0"/>
                </a:lnTo>
                <a:lnTo>
                  <a:pt x="8129909" y="3680551"/>
                </a:lnTo>
                <a:lnTo>
                  <a:pt x="0" y="3680551"/>
                </a:lnTo>
                <a:lnTo>
                  <a:pt x="0" y="0"/>
                </a:lnTo>
                <a:close/>
              </a:path>
            </a:pathLst>
          </a:custGeom>
          <a:blipFill>
            <a:blip r:embed="rId6"/>
            <a:stretch>
              <a:fillRect l="0" t="0" r="0" b="0"/>
            </a:stretch>
          </a:blipFill>
        </p:spPr>
      </p:sp>
      <p:sp>
        <p:nvSpPr>
          <p:cNvPr name="Freeform 11" id="11"/>
          <p:cNvSpPr/>
          <p:nvPr/>
        </p:nvSpPr>
        <p:spPr>
          <a:xfrm flipH="false" flipV="false" rot="0">
            <a:off x="9238385" y="6101624"/>
            <a:ext cx="8097238" cy="3869939"/>
          </a:xfrm>
          <a:custGeom>
            <a:avLst/>
            <a:gdLst/>
            <a:ahLst/>
            <a:cxnLst/>
            <a:rect r="r" b="b" t="t" l="l"/>
            <a:pathLst>
              <a:path h="3869939" w="8097238">
                <a:moveTo>
                  <a:pt x="0" y="0"/>
                </a:moveTo>
                <a:lnTo>
                  <a:pt x="8097238" y="0"/>
                </a:lnTo>
                <a:lnTo>
                  <a:pt x="8097238" y="3869939"/>
                </a:lnTo>
                <a:lnTo>
                  <a:pt x="0" y="3869939"/>
                </a:lnTo>
                <a:lnTo>
                  <a:pt x="0" y="0"/>
                </a:lnTo>
                <a:close/>
              </a:path>
            </a:pathLst>
          </a:custGeom>
          <a:blipFill>
            <a:blip r:embed="rId7"/>
            <a:stretch>
              <a:fillRect l="0" t="0" r="0" b="0"/>
            </a:stretch>
          </a:blipFill>
        </p:spPr>
      </p:sp>
      <p:sp>
        <p:nvSpPr>
          <p:cNvPr name="TextBox 12" id="12"/>
          <p:cNvSpPr txBox="true"/>
          <p:nvPr/>
        </p:nvSpPr>
        <p:spPr>
          <a:xfrm rot="0">
            <a:off x="3058457" y="652373"/>
            <a:ext cx="13089220"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USER MANAGEMENT (MENS_WARDEN,WOMENS_WARDEN,WATCHMAN,ADMIN)</a:t>
            </a:r>
          </a:p>
        </p:txBody>
      </p:sp>
      <p:sp>
        <p:nvSpPr>
          <p:cNvPr name="TextBox 13" id="13"/>
          <p:cNvSpPr txBox="true"/>
          <p:nvPr/>
        </p:nvSpPr>
        <p:spPr>
          <a:xfrm rot="0">
            <a:off x="14766027" y="9276995"/>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229290" y="1775760"/>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Freeform 3" id="3"/>
          <p:cNvSpPr/>
          <p:nvPr/>
        </p:nvSpPr>
        <p:spPr>
          <a:xfrm flipH="false" flipV="false" rot="0">
            <a:off x="-11250586" y="-3933278"/>
            <a:ext cx="13745171" cy="10034901"/>
          </a:xfrm>
          <a:custGeom>
            <a:avLst/>
            <a:gdLst/>
            <a:ahLst/>
            <a:cxnLst/>
            <a:rect r="r" b="b" t="t" l="l"/>
            <a:pathLst>
              <a:path h="10034901" w="13745171">
                <a:moveTo>
                  <a:pt x="0" y="0"/>
                </a:moveTo>
                <a:lnTo>
                  <a:pt x="13745171" y="0"/>
                </a:lnTo>
                <a:lnTo>
                  <a:pt x="13745171" y="10034902"/>
                </a:lnTo>
                <a:lnTo>
                  <a:pt x="0" y="10034902"/>
                </a:lnTo>
                <a:lnTo>
                  <a:pt x="0" y="0"/>
                </a:lnTo>
                <a:close/>
              </a:path>
            </a:pathLst>
          </a:custGeom>
          <a:blipFill>
            <a:blip r:embed="rId2"/>
            <a:stretch>
              <a:fillRect l="-523" t="0" r="-523" b="0"/>
            </a:stretch>
          </a:blipFill>
        </p:spPr>
      </p:sp>
      <p:grpSp>
        <p:nvGrpSpPr>
          <p:cNvPr name="Group 4" id="4"/>
          <p:cNvGrpSpPr/>
          <p:nvPr/>
        </p:nvGrpSpPr>
        <p:grpSpPr>
          <a:xfrm rot="0">
            <a:off x="1593050" y="435743"/>
            <a:ext cx="14884568" cy="839660"/>
            <a:chOff x="0" y="0"/>
            <a:chExt cx="3920216" cy="221145"/>
          </a:xfrm>
        </p:grpSpPr>
        <p:sp>
          <p:nvSpPr>
            <p:cNvPr name="Freeform 5" id="5"/>
            <p:cNvSpPr/>
            <p:nvPr/>
          </p:nvSpPr>
          <p:spPr>
            <a:xfrm flipH="false" flipV="false" rot="0">
              <a:off x="0" y="0"/>
              <a:ext cx="3920216" cy="221145"/>
            </a:xfrm>
            <a:custGeom>
              <a:avLst/>
              <a:gdLst/>
              <a:ahLst/>
              <a:cxnLst/>
              <a:rect r="r" b="b" t="t" l="l"/>
              <a:pathLst>
                <a:path h="221145" w="3920216">
                  <a:moveTo>
                    <a:pt x="31208" y="0"/>
                  </a:moveTo>
                  <a:lnTo>
                    <a:pt x="3889008" y="0"/>
                  </a:lnTo>
                  <a:cubicBezTo>
                    <a:pt x="3897285" y="0"/>
                    <a:pt x="3905222" y="3288"/>
                    <a:pt x="3911075" y="9141"/>
                  </a:cubicBezTo>
                  <a:cubicBezTo>
                    <a:pt x="3916928" y="14993"/>
                    <a:pt x="3920216" y="22931"/>
                    <a:pt x="3920216" y="31208"/>
                  </a:cubicBezTo>
                  <a:lnTo>
                    <a:pt x="3920216" y="189937"/>
                  </a:lnTo>
                  <a:cubicBezTo>
                    <a:pt x="3920216" y="198214"/>
                    <a:pt x="3916928" y="206152"/>
                    <a:pt x="3911075" y="212004"/>
                  </a:cubicBezTo>
                  <a:cubicBezTo>
                    <a:pt x="3905222" y="217857"/>
                    <a:pt x="3897285" y="221145"/>
                    <a:pt x="3889008" y="221145"/>
                  </a:cubicBezTo>
                  <a:lnTo>
                    <a:pt x="31208" y="221145"/>
                  </a:lnTo>
                  <a:cubicBezTo>
                    <a:pt x="22931" y="221145"/>
                    <a:pt x="14993" y="217857"/>
                    <a:pt x="9141" y="212004"/>
                  </a:cubicBezTo>
                  <a:cubicBezTo>
                    <a:pt x="3288" y="206152"/>
                    <a:pt x="0" y="198214"/>
                    <a:pt x="0" y="189937"/>
                  </a:cubicBezTo>
                  <a:lnTo>
                    <a:pt x="0" y="31208"/>
                  </a:lnTo>
                  <a:cubicBezTo>
                    <a:pt x="0" y="22931"/>
                    <a:pt x="3288" y="14993"/>
                    <a:pt x="9141" y="9141"/>
                  </a:cubicBezTo>
                  <a:cubicBezTo>
                    <a:pt x="14993" y="3288"/>
                    <a:pt x="22931" y="0"/>
                    <a:pt x="31208" y="0"/>
                  </a:cubicBezTo>
                  <a:close/>
                </a:path>
              </a:pathLst>
            </a:custGeom>
            <a:solidFill>
              <a:srgbClr val="000000"/>
            </a:solidFill>
            <a:ln w="38100" cap="rnd">
              <a:solidFill>
                <a:srgbClr val="FFD944"/>
              </a:solidFill>
              <a:prstDash val="solid"/>
              <a:round/>
            </a:ln>
          </p:spPr>
        </p:sp>
        <p:sp>
          <p:nvSpPr>
            <p:cNvPr name="TextBox 6" id="6"/>
            <p:cNvSpPr txBox="true"/>
            <p:nvPr/>
          </p:nvSpPr>
          <p:spPr>
            <a:xfrm>
              <a:off x="0" y="-38100"/>
              <a:ext cx="3920216" cy="25924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048244" y="626973"/>
            <a:ext cx="446341" cy="457200"/>
          </a:xfrm>
          <a:custGeom>
            <a:avLst/>
            <a:gdLst/>
            <a:ahLst/>
            <a:cxnLst/>
            <a:rect r="r" b="b" t="t" l="l"/>
            <a:pathLst>
              <a:path h="457200" w="446341">
                <a:moveTo>
                  <a:pt x="0" y="0"/>
                </a:moveTo>
                <a:lnTo>
                  <a:pt x="446341" y="0"/>
                </a:lnTo>
                <a:lnTo>
                  <a:pt x="446341" y="457200"/>
                </a:lnTo>
                <a:lnTo>
                  <a:pt x="0" y="457200"/>
                </a:lnTo>
                <a:lnTo>
                  <a:pt x="0" y="0"/>
                </a:lnTo>
                <a:close/>
              </a:path>
            </a:pathLst>
          </a:custGeom>
          <a:blipFill>
            <a:blip r:embed="rId3"/>
            <a:stretch>
              <a:fillRect l="0" t="0" r="0" b="0"/>
            </a:stretch>
          </a:blipFill>
        </p:spPr>
      </p:sp>
      <p:sp>
        <p:nvSpPr>
          <p:cNvPr name="Freeform 8" id="8"/>
          <p:cNvSpPr/>
          <p:nvPr/>
        </p:nvSpPr>
        <p:spPr>
          <a:xfrm flipH="false" flipV="false" rot="0">
            <a:off x="416942" y="1992249"/>
            <a:ext cx="7812348" cy="3785793"/>
          </a:xfrm>
          <a:custGeom>
            <a:avLst/>
            <a:gdLst/>
            <a:ahLst/>
            <a:cxnLst/>
            <a:rect r="r" b="b" t="t" l="l"/>
            <a:pathLst>
              <a:path h="3785793" w="7812348">
                <a:moveTo>
                  <a:pt x="0" y="0"/>
                </a:moveTo>
                <a:lnTo>
                  <a:pt x="7812348" y="0"/>
                </a:lnTo>
                <a:lnTo>
                  <a:pt x="7812348" y="3785793"/>
                </a:lnTo>
                <a:lnTo>
                  <a:pt x="0" y="3785793"/>
                </a:lnTo>
                <a:lnTo>
                  <a:pt x="0" y="0"/>
                </a:lnTo>
                <a:close/>
              </a:path>
            </a:pathLst>
          </a:custGeom>
          <a:blipFill>
            <a:blip r:embed="rId4"/>
            <a:stretch>
              <a:fillRect l="0" t="0" r="0" b="0"/>
            </a:stretch>
          </a:blipFill>
        </p:spPr>
      </p:sp>
      <p:sp>
        <p:nvSpPr>
          <p:cNvPr name="Freeform 9" id="9"/>
          <p:cNvSpPr/>
          <p:nvPr/>
        </p:nvSpPr>
        <p:spPr>
          <a:xfrm flipH="false" flipV="false" rot="0">
            <a:off x="9144000" y="1992249"/>
            <a:ext cx="8144007" cy="3785793"/>
          </a:xfrm>
          <a:custGeom>
            <a:avLst/>
            <a:gdLst/>
            <a:ahLst/>
            <a:cxnLst/>
            <a:rect r="r" b="b" t="t" l="l"/>
            <a:pathLst>
              <a:path h="3785793" w="8144007">
                <a:moveTo>
                  <a:pt x="0" y="0"/>
                </a:moveTo>
                <a:lnTo>
                  <a:pt x="8144007" y="0"/>
                </a:lnTo>
                <a:lnTo>
                  <a:pt x="8144007" y="3785793"/>
                </a:lnTo>
                <a:lnTo>
                  <a:pt x="0" y="3785793"/>
                </a:lnTo>
                <a:lnTo>
                  <a:pt x="0" y="0"/>
                </a:lnTo>
                <a:close/>
              </a:path>
            </a:pathLst>
          </a:custGeom>
          <a:blipFill>
            <a:blip r:embed="rId5"/>
            <a:stretch>
              <a:fillRect l="0" t="0" r="0" b="0"/>
            </a:stretch>
          </a:blipFill>
        </p:spPr>
      </p:sp>
      <p:sp>
        <p:nvSpPr>
          <p:cNvPr name="Freeform 10" id="10"/>
          <p:cNvSpPr/>
          <p:nvPr/>
        </p:nvSpPr>
        <p:spPr>
          <a:xfrm flipH="false" flipV="false" rot="0">
            <a:off x="475933" y="6101624"/>
            <a:ext cx="8668067" cy="3891596"/>
          </a:xfrm>
          <a:custGeom>
            <a:avLst/>
            <a:gdLst/>
            <a:ahLst/>
            <a:cxnLst/>
            <a:rect r="r" b="b" t="t" l="l"/>
            <a:pathLst>
              <a:path h="3891596" w="8668067">
                <a:moveTo>
                  <a:pt x="0" y="0"/>
                </a:moveTo>
                <a:lnTo>
                  <a:pt x="8668067" y="0"/>
                </a:lnTo>
                <a:lnTo>
                  <a:pt x="8668067" y="3891596"/>
                </a:lnTo>
                <a:lnTo>
                  <a:pt x="0" y="3891596"/>
                </a:lnTo>
                <a:lnTo>
                  <a:pt x="0" y="0"/>
                </a:lnTo>
                <a:close/>
              </a:path>
            </a:pathLst>
          </a:custGeom>
          <a:blipFill>
            <a:blip r:embed="rId6"/>
            <a:stretch>
              <a:fillRect l="0" t="0" r="0" b="0"/>
            </a:stretch>
          </a:blipFill>
        </p:spPr>
      </p:sp>
      <p:sp>
        <p:nvSpPr>
          <p:cNvPr name="Freeform 11" id="11"/>
          <p:cNvSpPr/>
          <p:nvPr/>
        </p:nvSpPr>
        <p:spPr>
          <a:xfrm flipH="false" flipV="false" rot="0">
            <a:off x="9811354" y="6089912"/>
            <a:ext cx="7447946" cy="3663388"/>
          </a:xfrm>
          <a:custGeom>
            <a:avLst/>
            <a:gdLst/>
            <a:ahLst/>
            <a:cxnLst/>
            <a:rect r="r" b="b" t="t" l="l"/>
            <a:pathLst>
              <a:path h="3663388" w="7447946">
                <a:moveTo>
                  <a:pt x="0" y="0"/>
                </a:moveTo>
                <a:lnTo>
                  <a:pt x="7447946" y="0"/>
                </a:lnTo>
                <a:lnTo>
                  <a:pt x="7447946" y="3663388"/>
                </a:lnTo>
                <a:lnTo>
                  <a:pt x="0" y="3663388"/>
                </a:lnTo>
                <a:lnTo>
                  <a:pt x="0" y="0"/>
                </a:lnTo>
                <a:close/>
              </a:path>
            </a:pathLst>
          </a:custGeom>
          <a:blipFill>
            <a:blip r:embed="rId7"/>
            <a:stretch>
              <a:fillRect l="0" t="0" r="0" b="0"/>
            </a:stretch>
          </a:blipFill>
        </p:spPr>
      </p:sp>
      <p:sp>
        <p:nvSpPr>
          <p:cNvPr name="TextBox 12" id="12"/>
          <p:cNvSpPr txBox="true"/>
          <p:nvPr/>
        </p:nvSpPr>
        <p:spPr>
          <a:xfrm rot="0">
            <a:off x="3058457" y="652373"/>
            <a:ext cx="13089220"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DASHBOARD (MENS_WARDEN,WOMENS_WARDEN,WATCHMAN,ADMIN)</a:t>
            </a:r>
          </a:p>
        </p:txBody>
      </p:sp>
      <p:sp>
        <p:nvSpPr>
          <p:cNvPr name="TextBox 13" id="13"/>
          <p:cNvSpPr txBox="true"/>
          <p:nvPr/>
        </p:nvSpPr>
        <p:spPr>
          <a:xfrm rot="0">
            <a:off x="14691656" y="9372679"/>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229290" y="1775760"/>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Freeform 3" id="3"/>
          <p:cNvSpPr/>
          <p:nvPr/>
        </p:nvSpPr>
        <p:spPr>
          <a:xfrm flipH="false" flipV="false" rot="0">
            <a:off x="-11250586" y="-3933278"/>
            <a:ext cx="13745171" cy="10034901"/>
          </a:xfrm>
          <a:custGeom>
            <a:avLst/>
            <a:gdLst/>
            <a:ahLst/>
            <a:cxnLst/>
            <a:rect r="r" b="b" t="t" l="l"/>
            <a:pathLst>
              <a:path h="10034901" w="13745171">
                <a:moveTo>
                  <a:pt x="0" y="0"/>
                </a:moveTo>
                <a:lnTo>
                  <a:pt x="13745171" y="0"/>
                </a:lnTo>
                <a:lnTo>
                  <a:pt x="13745171" y="10034902"/>
                </a:lnTo>
                <a:lnTo>
                  <a:pt x="0" y="10034902"/>
                </a:lnTo>
                <a:lnTo>
                  <a:pt x="0" y="0"/>
                </a:lnTo>
                <a:close/>
              </a:path>
            </a:pathLst>
          </a:custGeom>
          <a:blipFill>
            <a:blip r:embed="rId2"/>
            <a:stretch>
              <a:fillRect l="-523" t="0" r="-523" b="0"/>
            </a:stretch>
          </a:blipFill>
        </p:spPr>
      </p:sp>
      <p:grpSp>
        <p:nvGrpSpPr>
          <p:cNvPr name="Group 4" id="4"/>
          <p:cNvGrpSpPr/>
          <p:nvPr/>
        </p:nvGrpSpPr>
        <p:grpSpPr>
          <a:xfrm rot="0">
            <a:off x="1593050" y="435743"/>
            <a:ext cx="14884568" cy="839660"/>
            <a:chOff x="0" y="0"/>
            <a:chExt cx="3920216" cy="221145"/>
          </a:xfrm>
        </p:grpSpPr>
        <p:sp>
          <p:nvSpPr>
            <p:cNvPr name="Freeform 5" id="5"/>
            <p:cNvSpPr/>
            <p:nvPr/>
          </p:nvSpPr>
          <p:spPr>
            <a:xfrm flipH="false" flipV="false" rot="0">
              <a:off x="0" y="0"/>
              <a:ext cx="3920216" cy="221145"/>
            </a:xfrm>
            <a:custGeom>
              <a:avLst/>
              <a:gdLst/>
              <a:ahLst/>
              <a:cxnLst/>
              <a:rect r="r" b="b" t="t" l="l"/>
              <a:pathLst>
                <a:path h="221145" w="3920216">
                  <a:moveTo>
                    <a:pt x="31208" y="0"/>
                  </a:moveTo>
                  <a:lnTo>
                    <a:pt x="3889008" y="0"/>
                  </a:lnTo>
                  <a:cubicBezTo>
                    <a:pt x="3897285" y="0"/>
                    <a:pt x="3905222" y="3288"/>
                    <a:pt x="3911075" y="9141"/>
                  </a:cubicBezTo>
                  <a:cubicBezTo>
                    <a:pt x="3916928" y="14993"/>
                    <a:pt x="3920216" y="22931"/>
                    <a:pt x="3920216" y="31208"/>
                  </a:cubicBezTo>
                  <a:lnTo>
                    <a:pt x="3920216" y="189937"/>
                  </a:lnTo>
                  <a:cubicBezTo>
                    <a:pt x="3920216" y="198214"/>
                    <a:pt x="3916928" y="206152"/>
                    <a:pt x="3911075" y="212004"/>
                  </a:cubicBezTo>
                  <a:cubicBezTo>
                    <a:pt x="3905222" y="217857"/>
                    <a:pt x="3897285" y="221145"/>
                    <a:pt x="3889008" y="221145"/>
                  </a:cubicBezTo>
                  <a:lnTo>
                    <a:pt x="31208" y="221145"/>
                  </a:lnTo>
                  <a:cubicBezTo>
                    <a:pt x="22931" y="221145"/>
                    <a:pt x="14993" y="217857"/>
                    <a:pt x="9141" y="212004"/>
                  </a:cubicBezTo>
                  <a:cubicBezTo>
                    <a:pt x="3288" y="206152"/>
                    <a:pt x="0" y="198214"/>
                    <a:pt x="0" y="189937"/>
                  </a:cubicBezTo>
                  <a:lnTo>
                    <a:pt x="0" y="31208"/>
                  </a:lnTo>
                  <a:cubicBezTo>
                    <a:pt x="0" y="22931"/>
                    <a:pt x="3288" y="14993"/>
                    <a:pt x="9141" y="9141"/>
                  </a:cubicBezTo>
                  <a:cubicBezTo>
                    <a:pt x="14993" y="3288"/>
                    <a:pt x="22931" y="0"/>
                    <a:pt x="31208" y="0"/>
                  </a:cubicBezTo>
                  <a:close/>
                </a:path>
              </a:pathLst>
            </a:custGeom>
            <a:solidFill>
              <a:srgbClr val="000000"/>
            </a:solidFill>
            <a:ln w="38100" cap="rnd">
              <a:solidFill>
                <a:srgbClr val="FFD944"/>
              </a:solidFill>
              <a:prstDash val="solid"/>
              <a:round/>
            </a:ln>
          </p:spPr>
        </p:sp>
        <p:sp>
          <p:nvSpPr>
            <p:cNvPr name="TextBox 6" id="6"/>
            <p:cNvSpPr txBox="true"/>
            <p:nvPr/>
          </p:nvSpPr>
          <p:spPr>
            <a:xfrm>
              <a:off x="0" y="-38100"/>
              <a:ext cx="3920216" cy="25924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048244" y="626973"/>
            <a:ext cx="446341" cy="457200"/>
          </a:xfrm>
          <a:custGeom>
            <a:avLst/>
            <a:gdLst/>
            <a:ahLst/>
            <a:cxnLst/>
            <a:rect r="r" b="b" t="t" l="l"/>
            <a:pathLst>
              <a:path h="457200" w="446341">
                <a:moveTo>
                  <a:pt x="0" y="0"/>
                </a:moveTo>
                <a:lnTo>
                  <a:pt x="446341" y="0"/>
                </a:lnTo>
                <a:lnTo>
                  <a:pt x="446341" y="457200"/>
                </a:lnTo>
                <a:lnTo>
                  <a:pt x="0" y="457200"/>
                </a:lnTo>
                <a:lnTo>
                  <a:pt x="0" y="0"/>
                </a:lnTo>
                <a:close/>
              </a:path>
            </a:pathLst>
          </a:custGeom>
          <a:blipFill>
            <a:blip r:embed="rId3"/>
            <a:stretch>
              <a:fillRect l="0" t="0" r="0" b="0"/>
            </a:stretch>
          </a:blipFill>
        </p:spPr>
      </p:sp>
      <p:sp>
        <p:nvSpPr>
          <p:cNvPr name="Freeform 8" id="8"/>
          <p:cNvSpPr/>
          <p:nvPr/>
        </p:nvSpPr>
        <p:spPr>
          <a:xfrm flipH="false" flipV="false" rot="0">
            <a:off x="565339" y="1775760"/>
            <a:ext cx="8207641" cy="4031936"/>
          </a:xfrm>
          <a:custGeom>
            <a:avLst/>
            <a:gdLst/>
            <a:ahLst/>
            <a:cxnLst/>
            <a:rect r="r" b="b" t="t" l="l"/>
            <a:pathLst>
              <a:path h="4031936" w="8207641">
                <a:moveTo>
                  <a:pt x="0" y="0"/>
                </a:moveTo>
                <a:lnTo>
                  <a:pt x="8207641" y="0"/>
                </a:lnTo>
                <a:lnTo>
                  <a:pt x="8207641" y="4031935"/>
                </a:lnTo>
                <a:lnTo>
                  <a:pt x="0" y="4031935"/>
                </a:lnTo>
                <a:lnTo>
                  <a:pt x="0" y="0"/>
                </a:lnTo>
                <a:close/>
              </a:path>
            </a:pathLst>
          </a:custGeom>
          <a:blipFill>
            <a:blip r:embed="rId4"/>
            <a:stretch>
              <a:fillRect l="0" t="0" r="-1308" b="0"/>
            </a:stretch>
          </a:blipFill>
        </p:spPr>
      </p:sp>
      <p:sp>
        <p:nvSpPr>
          <p:cNvPr name="Freeform 9" id="9"/>
          <p:cNvSpPr/>
          <p:nvPr/>
        </p:nvSpPr>
        <p:spPr>
          <a:xfrm flipH="false" flipV="false" rot="0">
            <a:off x="9035334" y="4302693"/>
            <a:ext cx="8781220" cy="4308739"/>
          </a:xfrm>
          <a:custGeom>
            <a:avLst/>
            <a:gdLst/>
            <a:ahLst/>
            <a:cxnLst/>
            <a:rect r="r" b="b" t="t" l="l"/>
            <a:pathLst>
              <a:path h="4308739" w="8781220">
                <a:moveTo>
                  <a:pt x="0" y="0"/>
                </a:moveTo>
                <a:lnTo>
                  <a:pt x="8781219" y="0"/>
                </a:lnTo>
                <a:lnTo>
                  <a:pt x="8781219" y="4308739"/>
                </a:lnTo>
                <a:lnTo>
                  <a:pt x="0" y="4308739"/>
                </a:lnTo>
                <a:lnTo>
                  <a:pt x="0" y="0"/>
                </a:lnTo>
                <a:close/>
              </a:path>
            </a:pathLst>
          </a:custGeom>
          <a:blipFill>
            <a:blip r:embed="rId5"/>
            <a:stretch>
              <a:fillRect l="0" t="0" r="0" b="0"/>
            </a:stretch>
          </a:blipFill>
        </p:spPr>
      </p:sp>
      <p:sp>
        <p:nvSpPr>
          <p:cNvPr name="TextBox 10" id="10"/>
          <p:cNvSpPr txBox="true"/>
          <p:nvPr/>
        </p:nvSpPr>
        <p:spPr>
          <a:xfrm rot="0">
            <a:off x="3058457" y="652373"/>
            <a:ext cx="13089220"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ADDSTUDENT  (MENS_WARDEN,WOMENS_WARDEN)</a:t>
            </a:r>
          </a:p>
        </p:txBody>
      </p:sp>
      <p:sp>
        <p:nvSpPr>
          <p:cNvPr name="TextBox 11" id="11"/>
          <p:cNvSpPr txBox="true"/>
          <p:nvPr/>
        </p:nvSpPr>
        <p:spPr>
          <a:xfrm rot="0">
            <a:off x="14555439" y="9380770"/>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229290" y="1775760"/>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Freeform 3" id="3"/>
          <p:cNvSpPr/>
          <p:nvPr/>
        </p:nvSpPr>
        <p:spPr>
          <a:xfrm flipH="false" flipV="false" rot="0">
            <a:off x="-11250586" y="-3933278"/>
            <a:ext cx="13745171" cy="10034901"/>
          </a:xfrm>
          <a:custGeom>
            <a:avLst/>
            <a:gdLst/>
            <a:ahLst/>
            <a:cxnLst/>
            <a:rect r="r" b="b" t="t" l="l"/>
            <a:pathLst>
              <a:path h="10034901" w="13745171">
                <a:moveTo>
                  <a:pt x="0" y="0"/>
                </a:moveTo>
                <a:lnTo>
                  <a:pt x="13745171" y="0"/>
                </a:lnTo>
                <a:lnTo>
                  <a:pt x="13745171" y="10034902"/>
                </a:lnTo>
                <a:lnTo>
                  <a:pt x="0" y="10034902"/>
                </a:lnTo>
                <a:lnTo>
                  <a:pt x="0" y="0"/>
                </a:lnTo>
                <a:close/>
              </a:path>
            </a:pathLst>
          </a:custGeom>
          <a:blipFill>
            <a:blip r:embed="rId2"/>
            <a:stretch>
              <a:fillRect l="-523" t="0" r="-523" b="0"/>
            </a:stretch>
          </a:blipFill>
        </p:spPr>
      </p:sp>
      <p:grpSp>
        <p:nvGrpSpPr>
          <p:cNvPr name="Group 4" id="4"/>
          <p:cNvGrpSpPr/>
          <p:nvPr/>
        </p:nvGrpSpPr>
        <p:grpSpPr>
          <a:xfrm rot="0">
            <a:off x="1593050" y="435743"/>
            <a:ext cx="14884568" cy="839660"/>
            <a:chOff x="0" y="0"/>
            <a:chExt cx="3920216" cy="221145"/>
          </a:xfrm>
        </p:grpSpPr>
        <p:sp>
          <p:nvSpPr>
            <p:cNvPr name="Freeform 5" id="5"/>
            <p:cNvSpPr/>
            <p:nvPr/>
          </p:nvSpPr>
          <p:spPr>
            <a:xfrm flipH="false" flipV="false" rot="0">
              <a:off x="0" y="0"/>
              <a:ext cx="3920216" cy="221145"/>
            </a:xfrm>
            <a:custGeom>
              <a:avLst/>
              <a:gdLst/>
              <a:ahLst/>
              <a:cxnLst/>
              <a:rect r="r" b="b" t="t" l="l"/>
              <a:pathLst>
                <a:path h="221145" w="3920216">
                  <a:moveTo>
                    <a:pt x="31208" y="0"/>
                  </a:moveTo>
                  <a:lnTo>
                    <a:pt x="3889008" y="0"/>
                  </a:lnTo>
                  <a:cubicBezTo>
                    <a:pt x="3897285" y="0"/>
                    <a:pt x="3905222" y="3288"/>
                    <a:pt x="3911075" y="9141"/>
                  </a:cubicBezTo>
                  <a:cubicBezTo>
                    <a:pt x="3916928" y="14993"/>
                    <a:pt x="3920216" y="22931"/>
                    <a:pt x="3920216" y="31208"/>
                  </a:cubicBezTo>
                  <a:lnTo>
                    <a:pt x="3920216" y="189937"/>
                  </a:lnTo>
                  <a:cubicBezTo>
                    <a:pt x="3920216" y="198214"/>
                    <a:pt x="3916928" y="206152"/>
                    <a:pt x="3911075" y="212004"/>
                  </a:cubicBezTo>
                  <a:cubicBezTo>
                    <a:pt x="3905222" y="217857"/>
                    <a:pt x="3897285" y="221145"/>
                    <a:pt x="3889008" y="221145"/>
                  </a:cubicBezTo>
                  <a:lnTo>
                    <a:pt x="31208" y="221145"/>
                  </a:lnTo>
                  <a:cubicBezTo>
                    <a:pt x="22931" y="221145"/>
                    <a:pt x="14993" y="217857"/>
                    <a:pt x="9141" y="212004"/>
                  </a:cubicBezTo>
                  <a:cubicBezTo>
                    <a:pt x="3288" y="206152"/>
                    <a:pt x="0" y="198214"/>
                    <a:pt x="0" y="189937"/>
                  </a:cubicBezTo>
                  <a:lnTo>
                    <a:pt x="0" y="31208"/>
                  </a:lnTo>
                  <a:cubicBezTo>
                    <a:pt x="0" y="22931"/>
                    <a:pt x="3288" y="14993"/>
                    <a:pt x="9141" y="9141"/>
                  </a:cubicBezTo>
                  <a:cubicBezTo>
                    <a:pt x="14993" y="3288"/>
                    <a:pt x="22931" y="0"/>
                    <a:pt x="31208" y="0"/>
                  </a:cubicBezTo>
                  <a:close/>
                </a:path>
              </a:pathLst>
            </a:custGeom>
            <a:solidFill>
              <a:srgbClr val="000000"/>
            </a:solidFill>
            <a:ln w="38100" cap="rnd">
              <a:solidFill>
                <a:srgbClr val="FFD944"/>
              </a:solidFill>
              <a:prstDash val="solid"/>
              <a:round/>
            </a:ln>
          </p:spPr>
        </p:sp>
        <p:sp>
          <p:nvSpPr>
            <p:cNvPr name="TextBox 6" id="6"/>
            <p:cNvSpPr txBox="true"/>
            <p:nvPr/>
          </p:nvSpPr>
          <p:spPr>
            <a:xfrm>
              <a:off x="0" y="-38100"/>
              <a:ext cx="3920216" cy="25924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048244" y="626973"/>
            <a:ext cx="446341" cy="457200"/>
          </a:xfrm>
          <a:custGeom>
            <a:avLst/>
            <a:gdLst/>
            <a:ahLst/>
            <a:cxnLst/>
            <a:rect r="r" b="b" t="t" l="l"/>
            <a:pathLst>
              <a:path h="457200" w="446341">
                <a:moveTo>
                  <a:pt x="0" y="0"/>
                </a:moveTo>
                <a:lnTo>
                  <a:pt x="446341" y="0"/>
                </a:lnTo>
                <a:lnTo>
                  <a:pt x="446341" y="457200"/>
                </a:lnTo>
                <a:lnTo>
                  <a:pt x="0" y="457200"/>
                </a:lnTo>
                <a:lnTo>
                  <a:pt x="0" y="0"/>
                </a:lnTo>
                <a:close/>
              </a:path>
            </a:pathLst>
          </a:custGeom>
          <a:blipFill>
            <a:blip r:embed="rId3"/>
            <a:stretch>
              <a:fillRect l="0" t="0" r="0" b="0"/>
            </a:stretch>
          </a:blipFill>
        </p:spPr>
      </p:sp>
      <p:sp>
        <p:nvSpPr>
          <p:cNvPr name="Freeform 8" id="8"/>
          <p:cNvSpPr/>
          <p:nvPr/>
        </p:nvSpPr>
        <p:spPr>
          <a:xfrm flipH="false" flipV="false" rot="0">
            <a:off x="711905" y="1652067"/>
            <a:ext cx="8121244" cy="3916445"/>
          </a:xfrm>
          <a:custGeom>
            <a:avLst/>
            <a:gdLst/>
            <a:ahLst/>
            <a:cxnLst/>
            <a:rect r="r" b="b" t="t" l="l"/>
            <a:pathLst>
              <a:path h="3916445" w="8121244">
                <a:moveTo>
                  <a:pt x="0" y="0"/>
                </a:moveTo>
                <a:lnTo>
                  <a:pt x="8121244" y="0"/>
                </a:lnTo>
                <a:lnTo>
                  <a:pt x="8121244" y="3916445"/>
                </a:lnTo>
                <a:lnTo>
                  <a:pt x="0" y="3916445"/>
                </a:lnTo>
                <a:lnTo>
                  <a:pt x="0" y="0"/>
                </a:lnTo>
                <a:close/>
              </a:path>
            </a:pathLst>
          </a:custGeom>
          <a:blipFill>
            <a:blip r:embed="rId4"/>
            <a:stretch>
              <a:fillRect l="0" t="0" r="0" b="0"/>
            </a:stretch>
          </a:blipFill>
        </p:spPr>
      </p:sp>
      <p:sp>
        <p:nvSpPr>
          <p:cNvPr name="Freeform 9" id="9"/>
          <p:cNvSpPr/>
          <p:nvPr/>
        </p:nvSpPr>
        <p:spPr>
          <a:xfrm flipH="false" flipV="false" rot="0">
            <a:off x="7734519" y="5787227"/>
            <a:ext cx="9178879" cy="4254462"/>
          </a:xfrm>
          <a:custGeom>
            <a:avLst/>
            <a:gdLst/>
            <a:ahLst/>
            <a:cxnLst/>
            <a:rect r="r" b="b" t="t" l="l"/>
            <a:pathLst>
              <a:path h="4254462" w="9178879">
                <a:moveTo>
                  <a:pt x="0" y="0"/>
                </a:moveTo>
                <a:lnTo>
                  <a:pt x="9178879" y="0"/>
                </a:lnTo>
                <a:lnTo>
                  <a:pt x="9178879" y="4254462"/>
                </a:lnTo>
                <a:lnTo>
                  <a:pt x="0" y="4254462"/>
                </a:lnTo>
                <a:lnTo>
                  <a:pt x="0" y="0"/>
                </a:lnTo>
                <a:close/>
              </a:path>
            </a:pathLst>
          </a:custGeom>
          <a:blipFill>
            <a:blip r:embed="rId5"/>
            <a:stretch>
              <a:fillRect l="0" t="0" r="0" b="0"/>
            </a:stretch>
          </a:blipFill>
        </p:spPr>
      </p:sp>
      <p:sp>
        <p:nvSpPr>
          <p:cNvPr name="TextBox 10" id="10"/>
          <p:cNvSpPr txBox="true"/>
          <p:nvPr/>
        </p:nvSpPr>
        <p:spPr>
          <a:xfrm rot="0">
            <a:off x="3058457" y="652373"/>
            <a:ext cx="13089220"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STUDENT LIST  (MENS_WARDEN,WOMENS_WARDEN)</a:t>
            </a:r>
          </a:p>
        </p:txBody>
      </p:sp>
      <p:sp>
        <p:nvSpPr>
          <p:cNvPr name="TextBox 11" id="11"/>
          <p:cNvSpPr txBox="true"/>
          <p:nvPr/>
        </p:nvSpPr>
        <p:spPr>
          <a:xfrm rot="0">
            <a:off x="14604762" y="9347121"/>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229290" y="1775760"/>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Freeform 3" id="3"/>
          <p:cNvSpPr/>
          <p:nvPr/>
        </p:nvSpPr>
        <p:spPr>
          <a:xfrm flipH="false" flipV="false" rot="0">
            <a:off x="-11250586" y="-3933278"/>
            <a:ext cx="13745171" cy="10034901"/>
          </a:xfrm>
          <a:custGeom>
            <a:avLst/>
            <a:gdLst/>
            <a:ahLst/>
            <a:cxnLst/>
            <a:rect r="r" b="b" t="t" l="l"/>
            <a:pathLst>
              <a:path h="10034901" w="13745171">
                <a:moveTo>
                  <a:pt x="0" y="0"/>
                </a:moveTo>
                <a:lnTo>
                  <a:pt x="13745171" y="0"/>
                </a:lnTo>
                <a:lnTo>
                  <a:pt x="13745171" y="10034902"/>
                </a:lnTo>
                <a:lnTo>
                  <a:pt x="0" y="10034902"/>
                </a:lnTo>
                <a:lnTo>
                  <a:pt x="0" y="0"/>
                </a:lnTo>
                <a:close/>
              </a:path>
            </a:pathLst>
          </a:custGeom>
          <a:blipFill>
            <a:blip r:embed="rId2"/>
            <a:stretch>
              <a:fillRect l="-523" t="0" r="-523" b="0"/>
            </a:stretch>
          </a:blipFill>
        </p:spPr>
      </p:sp>
      <p:grpSp>
        <p:nvGrpSpPr>
          <p:cNvPr name="Group 4" id="4"/>
          <p:cNvGrpSpPr/>
          <p:nvPr/>
        </p:nvGrpSpPr>
        <p:grpSpPr>
          <a:xfrm rot="0">
            <a:off x="1593050" y="435743"/>
            <a:ext cx="14884568" cy="839660"/>
            <a:chOff x="0" y="0"/>
            <a:chExt cx="3920216" cy="221145"/>
          </a:xfrm>
        </p:grpSpPr>
        <p:sp>
          <p:nvSpPr>
            <p:cNvPr name="Freeform 5" id="5"/>
            <p:cNvSpPr/>
            <p:nvPr/>
          </p:nvSpPr>
          <p:spPr>
            <a:xfrm flipH="false" flipV="false" rot="0">
              <a:off x="0" y="0"/>
              <a:ext cx="3920216" cy="221145"/>
            </a:xfrm>
            <a:custGeom>
              <a:avLst/>
              <a:gdLst/>
              <a:ahLst/>
              <a:cxnLst/>
              <a:rect r="r" b="b" t="t" l="l"/>
              <a:pathLst>
                <a:path h="221145" w="3920216">
                  <a:moveTo>
                    <a:pt x="31208" y="0"/>
                  </a:moveTo>
                  <a:lnTo>
                    <a:pt x="3889008" y="0"/>
                  </a:lnTo>
                  <a:cubicBezTo>
                    <a:pt x="3897285" y="0"/>
                    <a:pt x="3905222" y="3288"/>
                    <a:pt x="3911075" y="9141"/>
                  </a:cubicBezTo>
                  <a:cubicBezTo>
                    <a:pt x="3916928" y="14993"/>
                    <a:pt x="3920216" y="22931"/>
                    <a:pt x="3920216" y="31208"/>
                  </a:cubicBezTo>
                  <a:lnTo>
                    <a:pt x="3920216" y="189937"/>
                  </a:lnTo>
                  <a:cubicBezTo>
                    <a:pt x="3920216" y="198214"/>
                    <a:pt x="3916928" y="206152"/>
                    <a:pt x="3911075" y="212004"/>
                  </a:cubicBezTo>
                  <a:cubicBezTo>
                    <a:pt x="3905222" y="217857"/>
                    <a:pt x="3897285" y="221145"/>
                    <a:pt x="3889008" y="221145"/>
                  </a:cubicBezTo>
                  <a:lnTo>
                    <a:pt x="31208" y="221145"/>
                  </a:lnTo>
                  <a:cubicBezTo>
                    <a:pt x="22931" y="221145"/>
                    <a:pt x="14993" y="217857"/>
                    <a:pt x="9141" y="212004"/>
                  </a:cubicBezTo>
                  <a:cubicBezTo>
                    <a:pt x="3288" y="206152"/>
                    <a:pt x="0" y="198214"/>
                    <a:pt x="0" y="189937"/>
                  </a:cubicBezTo>
                  <a:lnTo>
                    <a:pt x="0" y="31208"/>
                  </a:lnTo>
                  <a:cubicBezTo>
                    <a:pt x="0" y="22931"/>
                    <a:pt x="3288" y="14993"/>
                    <a:pt x="9141" y="9141"/>
                  </a:cubicBezTo>
                  <a:cubicBezTo>
                    <a:pt x="14993" y="3288"/>
                    <a:pt x="22931" y="0"/>
                    <a:pt x="31208" y="0"/>
                  </a:cubicBezTo>
                  <a:close/>
                </a:path>
              </a:pathLst>
            </a:custGeom>
            <a:solidFill>
              <a:srgbClr val="000000"/>
            </a:solidFill>
            <a:ln w="38100" cap="rnd">
              <a:solidFill>
                <a:srgbClr val="FFD944"/>
              </a:solidFill>
              <a:prstDash val="solid"/>
              <a:round/>
            </a:ln>
          </p:spPr>
        </p:sp>
        <p:sp>
          <p:nvSpPr>
            <p:cNvPr name="TextBox 6" id="6"/>
            <p:cNvSpPr txBox="true"/>
            <p:nvPr/>
          </p:nvSpPr>
          <p:spPr>
            <a:xfrm>
              <a:off x="0" y="-38100"/>
              <a:ext cx="3920216" cy="25924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048244" y="626973"/>
            <a:ext cx="446341" cy="457200"/>
          </a:xfrm>
          <a:custGeom>
            <a:avLst/>
            <a:gdLst/>
            <a:ahLst/>
            <a:cxnLst/>
            <a:rect r="r" b="b" t="t" l="l"/>
            <a:pathLst>
              <a:path h="457200" w="446341">
                <a:moveTo>
                  <a:pt x="0" y="0"/>
                </a:moveTo>
                <a:lnTo>
                  <a:pt x="446341" y="0"/>
                </a:lnTo>
                <a:lnTo>
                  <a:pt x="446341" y="457200"/>
                </a:lnTo>
                <a:lnTo>
                  <a:pt x="0" y="457200"/>
                </a:lnTo>
                <a:lnTo>
                  <a:pt x="0" y="0"/>
                </a:lnTo>
                <a:close/>
              </a:path>
            </a:pathLst>
          </a:custGeom>
          <a:blipFill>
            <a:blip r:embed="rId3"/>
            <a:stretch>
              <a:fillRect l="0" t="0" r="0" b="0"/>
            </a:stretch>
          </a:blipFill>
        </p:spPr>
      </p:sp>
      <p:sp>
        <p:nvSpPr>
          <p:cNvPr name="Freeform 8" id="8"/>
          <p:cNvSpPr/>
          <p:nvPr/>
        </p:nvSpPr>
        <p:spPr>
          <a:xfrm flipH="false" flipV="false" rot="0">
            <a:off x="146302" y="1631451"/>
            <a:ext cx="8889032" cy="4367929"/>
          </a:xfrm>
          <a:custGeom>
            <a:avLst/>
            <a:gdLst/>
            <a:ahLst/>
            <a:cxnLst/>
            <a:rect r="r" b="b" t="t" l="l"/>
            <a:pathLst>
              <a:path h="4367929" w="8889032">
                <a:moveTo>
                  <a:pt x="0" y="0"/>
                </a:moveTo>
                <a:lnTo>
                  <a:pt x="8889032" y="0"/>
                </a:lnTo>
                <a:lnTo>
                  <a:pt x="8889032" y="4367929"/>
                </a:lnTo>
                <a:lnTo>
                  <a:pt x="0" y="4367929"/>
                </a:lnTo>
                <a:lnTo>
                  <a:pt x="0" y="0"/>
                </a:lnTo>
                <a:close/>
              </a:path>
            </a:pathLst>
          </a:custGeom>
          <a:blipFill>
            <a:blip r:embed="rId4"/>
            <a:stretch>
              <a:fillRect l="0" t="0" r="0" b="0"/>
            </a:stretch>
          </a:blipFill>
        </p:spPr>
      </p:sp>
      <p:sp>
        <p:nvSpPr>
          <p:cNvPr name="Freeform 9" id="9"/>
          <p:cNvSpPr/>
          <p:nvPr/>
        </p:nvSpPr>
        <p:spPr>
          <a:xfrm flipH="false" flipV="false" rot="0">
            <a:off x="9351627" y="4376325"/>
            <a:ext cx="8208950" cy="4881975"/>
          </a:xfrm>
          <a:custGeom>
            <a:avLst/>
            <a:gdLst/>
            <a:ahLst/>
            <a:cxnLst/>
            <a:rect r="r" b="b" t="t" l="l"/>
            <a:pathLst>
              <a:path h="4881975" w="8208950">
                <a:moveTo>
                  <a:pt x="0" y="0"/>
                </a:moveTo>
                <a:lnTo>
                  <a:pt x="8208950" y="0"/>
                </a:lnTo>
                <a:lnTo>
                  <a:pt x="8208950" y="4881975"/>
                </a:lnTo>
                <a:lnTo>
                  <a:pt x="0" y="4881975"/>
                </a:lnTo>
                <a:lnTo>
                  <a:pt x="0" y="0"/>
                </a:lnTo>
                <a:close/>
              </a:path>
            </a:pathLst>
          </a:custGeom>
          <a:blipFill>
            <a:blip r:embed="rId5"/>
            <a:stretch>
              <a:fillRect l="0" t="0" r="0" b="0"/>
            </a:stretch>
          </a:blipFill>
        </p:spPr>
      </p:sp>
      <p:sp>
        <p:nvSpPr>
          <p:cNvPr name="TextBox 10" id="10"/>
          <p:cNvSpPr txBox="true"/>
          <p:nvPr/>
        </p:nvSpPr>
        <p:spPr>
          <a:xfrm rot="0">
            <a:off x="3058457" y="652373"/>
            <a:ext cx="13089220"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LEAVE REQUEST  (MENS_WARDEN,WOMENS_WARDEN)</a:t>
            </a:r>
          </a:p>
        </p:txBody>
      </p:sp>
      <p:sp>
        <p:nvSpPr>
          <p:cNvPr name="TextBox 11" id="11"/>
          <p:cNvSpPr txBox="true"/>
          <p:nvPr/>
        </p:nvSpPr>
        <p:spPr>
          <a:xfrm rot="0">
            <a:off x="14482776" y="9437674"/>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229290" y="1775760"/>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Freeform 3" id="3"/>
          <p:cNvSpPr/>
          <p:nvPr/>
        </p:nvSpPr>
        <p:spPr>
          <a:xfrm flipH="false" flipV="false" rot="0">
            <a:off x="-11250586" y="-3933278"/>
            <a:ext cx="13745171" cy="10034901"/>
          </a:xfrm>
          <a:custGeom>
            <a:avLst/>
            <a:gdLst/>
            <a:ahLst/>
            <a:cxnLst/>
            <a:rect r="r" b="b" t="t" l="l"/>
            <a:pathLst>
              <a:path h="10034901" w="13745171">
                <a:moveTo>
                  <a:pt x="0" y="0"/>
                </a:moveTo>
                <a:lnTo>
                  <a:pt x="13745171" y="0"/>
                </a:lnTo>
                <a:lnTo>
                  <a:pt x="13745171" y="10034902"/>
                </a:lnTo>
                <a:lnTo>
                  <a:pt x="0" y="10034902"/>
                </a:lnTo>
                <a:lnTo>
                  <a:pt x="0" y="0"/>
                </a:lnTo>
                <a:close/>
              </a:path>
            </a:pathLst>
          </a:custGeom>
          <a:blipFill>
            <a:blip r:embed="rId2"/>
            <a:stretch>
              <a:fillRect l="-523" t="0" r="-523" b="0"/>
            </a:stretch>
          </a:blipFill>
        </p:spPr>
      </p:sp>
      <p:grpSp>
        <p:nvGrpSpPr>
          <p:cNvPr name="Group 4" id="4"/>
          <p:cNvGrpSpPr/>
          <p:nvPr/>
        </p:nvGrpSpPr>
        <p:grpSpPr>
          <a:xfrm rot="0">
            <a:off x="1593050" y="435743"/>
            <a:ext cx="14884568" cy="839660"/>
            <a:chOff x="0" y="0"/>
            <a:chExt cx="3920216" cy="221145"/>
          </a:xfrm>
        </p:grpSpPr>
        <p:sp>
          <p:nvSpPr>
            <p:cNvPr name="Freeform 5" id="5"/>
            <p:cNvSpPr/>
            <p:nvPr/>
          </p:nvSpPr>
          <p:spPr>
            <a:xfrm flipH="false" flipV="false" rot="0">
              <a:off x="0" y="0"/>
              <a:ext cx="3920216" cy="221145"/>
            </a:xfrm>
            <a:custGeom>
              <a:avLst/>
              <a:gdLst/>
              <a:ahLst/>
              <a:cxnLst/>
              <a:rect r="r" b="b" t="t" l="l"/>
              <a:pathLst>
                <a:path h="221145" w="3920216">
                  <a:moveTo>
                    <a:pt x="31208" y="0"/>
                  </a:moveTo>
                  <a:lnTo>
                    <a:pt x="3889008" y="0"/>
                  </a:lnTo>
                  <a:cubicBezTo>
                    <a:pt x="3897285" y="0"/>
                    <a:pt x="3905222" y="3288"/>
                    <a:pt x="3911075" y="9141"/>
                  </a:cubicBezTo>
                  <a:cubicBezTo>
                    <a:pt x="3916928" y="14993"/>
                    <a:pt x="3920216" y="22931"/>
                    <a:pt x="3920216" y="31208"/>
                  </a:cubicBezTo>
                  <a:lnTo>
                    <a:pt x="3920216" y="189937"/>
                  </a:lnTo>
                  <a:cubicBezTo>
                    <a:pt x="3920216" y="198214"/>
                    <a:pt x="3916928" y="206152"/>
                    <a:pt x="3911075" y="212004"/>
                  </a:cubicBezTo>
                  <a:cubicBezTo>
                    <a:pt x="3905222" y="217857"/>
                    <a:pt x="3897285" y="221145"/>
                    <a:pt x="3889008" y="221145"/>
                  </a:cubicBezTo>
                  <a:lnTo>
                    <a:pt x="31208" y="221145"/>
                  </a:lnTo>
                  <a:cubicBezTo>
                    <a:pt x="22931" y="221145"/>
                    <a:pt x="14993" y="217857"/>
                    <a:pt x="9141" y="212004"/>
                  </a:cubicBezTo>
                  <a:cubicBezTo>
                    <a:pt x="3288" y="206152"/>
                    <a:pt x="0" y="198214"/>
                    <a:pt x="0" y="189937"/>
                  </a:cubicBezTo>
                  <a:lnTo>
                    <a:pt x="0" y="31208"/>
                  </a:lnTo>
                  <a:cubicBezTo>
                    <a:pt x="0" y="22931"/>
                    <a:pt x="3288" y="14993"/>
                    <a:pt x="9141" y="9141"/>
                  </a:cubicBezTo>
                  <a:cubicBezTo>
                    <a:pt x="14993" y="3288"/>
                    <a:pt x="22931" y="0"/>
                    <a:pt x="31208" y="0"/>
                  </a:cubicBezTo>
                  <a:close/>
                </a:path>
              </a:pathLst>
            </a:custGeom>
            <a:solidFill>
              <a:srgbClr val="000000"/>
            </a:solidFill>
            <a:ln w="38100" cap="rnd">
              <a:solidFill>
                <a:srgbClr val="FFD944"/>
              </a:solidFill>
              <a:prstDash val="solid"/>
              <a:round/>
            </a:ln>
          </p:spPr>
        </p:sp>
        <p:sp>
          <p:nvSpPr>
            <p:cNvPr name="TextBox 6" id="6"/>
            <p:cNvSpPr txBox="true"/>
            <p:nvPr/>
          </p:nvSpPr>
          <p:spPr>
            <a:xfrm>
              <a:off x="0" y="-38100"/>
              <a:ext cx="3920216" cy="25924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048244" y="626973"/>
            <a:ext cx="446341" cy="457200"/>
          </a:xfrm>
          <a:custGeom>
            <a:avLst/>
            <a:gdLst/>
            <a:ahLst/>
            <a:cxnLst/>
            <a:rect r="r" b="b" t="t" l="l"/>
            <a:pathLst>
              <a:path h="457200" w="446341">
                <a:moveTo>
                  <a:pt x="0" y="0"/>
                </a:moveTo>
                <a:lnTo>
                  <a:pt x="446341" y="0"/>
                </a:lnTo>
                <a:lnTo>
                  <a:pt x="446341" y="457200"/>
                </a:lnTo>
                <a:lnTo>
                  <a:pt x="0" y="457200"/>
                </a:lnTo>
                <a:lnTo>
                  <a:pt x="0" y="0"/>
                </a:lnTo>
                <a:close/>
              </a:path>
            </a:pathLst>
          </a:custGeom>
          <a:blipFill>
            <a:blip r:embed="rId3"/>
            <a:stretch>
              <a:fillRect l="0" t="0" r="0" b="0"/>
            </a:stretch>
          </a:blipFill>
        </p:spPr>
      </p:sp>
      <p:sp>
        <p:nvSpPr>
          <p:cNvPr name="Freeform 8" id="8"/>
          <p:cNvSpPr/>
          <p:nvPr/>
        </p:nvSpPr>
        <p:spPr>
          <a:xfrm flipH="false" flipV="false" rot="0">
            <a:off x="568956" y="1626534"/>
            <a:ext cx="9913026" cy="3895860"/>
          </a:xfrm>
          <a:custGeom>
            <a:avLst/>
            <a:gdLst/>
            <a:ahLst/>
            <a:cxnLst/>
            <a:rect r="r" b="b" t="t" l="l"/>
            <a:pathLst>
              <a:path h="3895860" w="9913026">
                <a:moveTo>
                  <a:pt x="0" y="0"/>
                </a:moveTo>
                <a:lnTo>
                  <a:pt x="9913027" y="0"/>
                </a:lnTo>
                <a:lnTo>
                  <a:pt x="9913027" y="3895860"/>
                </a:lnTo>
                <a:lnTo>
                  <a:pt x="0" y="3895860"/>
                </a:lnTo>
                <a:lnTo>
                  <a:pt x="0" y="0"/>
                </a:lnTo>
                <a:close/>
              </a:path>
            </a:pathLst>
          </a:custGeom>
          <a:blipFill>
            <a:blip r:embed="rId4"/>
            <a:stretch>
              <a:fillRect l="0" t="0" r="0" b="0"/>
            </a:stretch>
          </a:blipFill>
        </p:spPr>
      </p:sp>
      <p:sp>
        <p:nvSpPr>
          <p:cNvPr name="Freeform 9" id="9"/>
          <p:cNvSpPr/>
          <p:nvPr/>
        </p:nvSpPr>
        <p:spPr>
          <a:xfrm flipH="false" flipV="false" rot="0">
            <a:off x="6824919" y="5874819"/>
            <a:ext cx="10097372" cy="3993889"/>
          </a:xfrm>
          <a:custGeom>
            <a:avLst/>
            <a:gdLst/>
            <a:ahLst/>
            <a:cxnLst/>
            <a:rect r="r" b="b" t="t" l="l"/>
            <a:pathLst>
              <a:path h="3993889" w="10097372">
                <a:moveTo>
                  <a:pt x="0" y="0"/>
                </a:moveTo>
                <a:lnTo>
                  <a:pt x="10097371" y="0"/>
                </a:lnTo>
                <a:lnTo>
                  <a:pt x="10097371" y="3993890"/>
                </a:lnTo>
                <a:lnTo>
                  <a:pt x="0" y="3993890"/>
                </a:lnTo>
                <a:lnTo>
                  <a:pt x="0" y="0"/>
                </a:lnTo>
                <a:close/>
              </a:path>
            </a:pathLst>
          </a:custGeom>
          <a:blipFill>
            <a:blip r:embed="rId5"/>
            <a:stretch>
              <a:fillRect l="0" t="0" r="0" b="0"/>
            </a:stretch>
          </a:blipFill>
        </p:spPr>
      </p:sp>
      <p:sp>
        <p:nvSpPr>
          <p:cNvPr name="TextBox 10" id="10"/>
          <p:cNvSpPr txBox="true"/>
          <p:nvPr/>
        </p:nvSpPr>
        <p:spPr>
          <a:xfrm rot="0">
            <a:off x="3058457" y="652373"/>
            <a:ext cx="13089220"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EMAIL MESSAGE  (MENS_WARDEN,WOMENS_WARDEN)</a:t>
            </a:r>
          </a:p>
        </p:txBody>
      </p:sp>
      <p:sp>
        <p:nvSpPr>
          <p:cNvPr name="TextBox 11" id="11"/>
          <p:cNvSpPr txBox="true"/>
          <p:nvPr/>
        </p:nvSpPr>
        <p:spPr>
          <a:xfrm rot="0">
            <a:off x="14655792" y="9322073"/>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229290" y="1775760"/>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Freeform 3" id="3"/>
          <p:cNvSpPr/>
          <p:nvPr/>
        </p:nvSpPr>
        <p:spPr>
          <a:xfrm flipH="false" flipV="false" rot="0">
            <a:off x="-11250586" y="-3933278"/>
            <a:ext cx="13745171" cy="10034901"/>
          </a:xfrm>
          <a:custGeom>
            <a:avLst/>
            <a:gdLst/>
            <a:ahLst/>
            <a:cxnLst/>
            <a:rect r="r" b="b" t="t" l="l"/>
            <a:pathLst>
              <a:path h="10034901" w="13745171">
                <a:moveTo>
                  <a:pt x="0" y="0"/>
                </a:moveTo>
                <a:lnTo>
                  <a:pt x="13745171" y="0"/>
                </a:lnTo>
                <a:lnTo>
                  <a:pt x="13745171" y="10034902"/>
                </a:lnTo>
                <a:lnTo>
                  <a:pt x="0" y="10034902"/>
                </a:lnTo>
                <a:lnTo>
                  <a:pt x="0" y="0"/>
                </a:lnTo>
                <a:close/>
              </a:path>
            </a:pathLst>
          </a:custGeom>
          <a:blipFill>
            <a:blip r:embed="rId2"/>
            <a:stretch>
              <a:fillRect l="-523" t="0" r="-523" b="0"/>
            </a:stretch>
          </a:blipFill>
        </p:spPr>
      </p:sp>
      <p:grpSp>
        <p:nvGrpSpPr>
          <p:cNvPr name="Group 4" id="4"/>
          <p:cNvGrpSpPr/>
          <p:nvPr/>
        </p:nvGrpSpPr>
        <p:grpSpPr>
          <a:xfrm rot="0">
            <a:off x="1593050" y="435743"/>
            <a:ext cx="14884568" cy="839660"/>
            <a:chOff x="0" y="0"/>
            <a:chExt cx="3920216" cy="221145"/>
          </a:xfrm>
        </p:grpSpPr>
        <p:sp>
          <p:nvSpPr>
            <p:cNvPr name="Freeform 5" id="5"/>
            <p:cNvSpPr/>
            <p:nvPr/>
          </p:nvSpPr>
          <p:spPr>
            <a:xfrm flipH="false" flipV="false" rot="0">
              <a:off x="0" y="0"/>
              <a:ext cx="3920216" cy="221145"/>
            </a:xfrm>
            <a:custGeom>
              <a:avLst/>
              <a:gdLst/>
              <a:ahLst/>
              <a:cxnLst/>
              <a:rect r="r" b="b" t="t" l="l"/>
              <a:pathLst>
                <a:path h="221145" w="3920216">
                  <a:moveTo>
                    <a:pt x="31208" y="0"/>
                  </a:moveTo>
                  <a:lnTo>
                    <a:pt x="3889008" y="0"/>
                  </a:lnTo>
                  <a:cubicBezTo>
                    <a:pt x="3897285" y="0"/>
                    <a:pt x="3905222" y="3288"/>
                    <a:pt x="3911075" y="9141"/>
                  </a:cubicBezTo>
                  <a:cubicBezTo>
                    <a:pt x="3916928" y="14993"/>
                    <a:pt x="3920216" y="22931"/>
                    <a:pt x="3920216" y="31208"/>
                  </a:cubicBezTo>
                  <a:lnTo>
                    <a:pt x="3920216" y="189937"/>
                  </a:lnTo>
                  <a:cubicBezTo>
                    <a:pt x="3920216" y="198214"/>
                    <a:pt x="3916928" y="206152"/>
                    <a:pt x="3911075" y="212004"/>
                  </a:cubicBezTo>
                  <a:cubicBezTo>
                    <a:pt x="3905222" y="217857"/>
                    <a:pt x="3897285" y="221145"/>
                    <a:pt x="3889008" y="221145"/>
                  </a:cubicBezTo>
                  <a:lnTo>
                    <a:pt x="31208" y="221145"/>
                  </a:lnTo>
                  <a:cubicBezTo>
                    <a:pt x="22931" y="221145"/>
                    <a:pt x="14993" y="217857"/>
                    <a:pt x="9141" y="212004"/>
                  </a:cubicBezTo>
                  <a:cubicBezTo>
                    <a:pt x="3288" y="206152"/>
                    <a:pt x="0" y="198214"/>
                    <a:pt x="0" y="189937"/>
                  </a:cubicBezTo>
                  <a:lnTo>
                    <a:pt x="0" y="31208"/>
                  </a:lnTo>
                  <a:cubicBezTo>
                    <a:pt x="0" y="22931"/>
                    <a:pt x="3288" y="14993"/>
                    <a:pt x="9141" y="9141"/>
                  </a:cubicBezTo>
                  <a:cubicBezTo>
                    <a:pt x="14993" y="3288"/>
                    <a:pt x="22931" y="0"/>
                    <a:pt x="31208" y="0"/>
                  </a:cubicBezTo>
                  <a:close/>
                </a:path>
              </a:pathLst>
            </a:custGeom>
            <a:solidFill>
              <a:srgbClr val="000000"/>
            </a:solidFill>
            <a:ln w="38100" cap="rnd">
              <a:solidFill>
                <a:srgbClr val="FFD944"/>
              </a:solidFill>
              <a:prstDash val="solid"/>
              <a:round/>
            </a:ln>
          </p:spPr>
        </p:sp>
        <p:sp>
          <p:nvSpPr>
            <p:cNvPr name="TextBox 6" id="6"/>
            <p:cNvSpPr txBox="true"/>
            <p:nvPr/>
          </p:nvSpPr>
          <p:spPr>
            <a:xfrm>
              <a:off x="0" y="-38100"/>
              <a:ext cx="3920216" cy="25924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048244" y="626973"/>
            <a:ext cx="446341" cy="457200"/>
          </a:xfrm>
          <a:custGeom>
            <a:avLst/>
            <a:gdLst/>
            <a:ahLst/>
            <a:cxnLst/>
            <a:rect r="r" b="b" t="t" l="l"/>
            <a:pathLst>
              <a:path h="457200" w="446341">
                <a:moveTo>
                  <a:pt x="0" y="0"/>
                </a:moveTo>
                <a:lnTo>
                  <a:pt x="446341" y="0"/>
                </a:lnTo>
                <a:lnTo>
                  <a:pt x="446341" y="457200"/>
                </a:lnTo>
                <a:lnTo>
                  <a:pt x="0" y="457200"/>
                </a:lnTo>
                <a:lnTo>
                  <a:pt x="0" y="0"/>
                </a:lnTo>
                <a:close/>
              </a:path>
            </a:pathLst>
          </a:custGeom>
          <a:blipFill>
            <a:blip r:embed="rId3"/>
            <a:stretch>
              <a:fillRect l="0" t="0" r="0" b="0"/>
            </a:stretch>
          </a:blipFill>
        </p:spPr>
      </p:sp>
      <p:sp>
        <p:nvSpPr>
          <p:cNvPr name="Freeform 8" id="8"/>
          <p:cNvSpPr/>
          <p:nvPr/>
        </p:nvSpPr>
        <p:spPr>
          <a:xfrm flipH="false" flipV="false" rot="0">
            <a:off x="684161" y="2114030"/>
            <a:ext cx="11930730" cy="3029470"/>
          </a:xfrm>
          <a:custGeom>
            <a:avLst/>
            <a:gdLst/>
            <a:ahLst/>
            <a:cxnLst/>
            <a:rect r="r" b="b" t="t" l="l"/>
            <a:pathLst>
              <a:path h="3029470" w="11930730">
                <a:moveTo>
                  <a:pt x="0" y="0"/>
                </a:moveTo>
                <a:lnTo>
                  <a:pt x="11930730" y="0"/>
                </a:lnTo>
                <a:lnTo>
                  <a:pt x="11930730" y="3029470"/>
                </a:lnTo>
                <a:lnTo>
                  <a:pt x="0" y="3029470"/>
                </a:lnTo>
                <a:lnTo>
                  <a:pt x="0" y="0"/>
                </a:lnTo>
                <a:close/>
              </a:path>
            </a:pathLst>
          </a:custGeom>
          <a:blipFill>
            <a:blip r:embed="rId4"/>
            <a:stretch>
              <a:fillRect l="0" t="0" r="0" b="0"/>
            </a:stretch>
          </a:blipFill>
        </p:spPr>
      </p:sp>
      <p:sp>
        <p:nvSpPr>
          <p:cNvPr name="Freeform 9" id="9"/>
          <p:cNvSpPr/>
          <p:nvPr/>
        </p:nvSpPr>
        <p:spPr>
          <a:xfrm flipH="false" flipV="false" rot="0">
            <a:off x="5694449" y="6172200"/>
            <a:ext cx="11956545" cy="2948507"/>
          </a:xfrm>
          <a:custGeom>
            <a:avLst/>
            <a:gdLst/>
            <a:ahLst/>
            <a:cxnLst/>
            <a:rect r="r" b="b" t="t" l="l"/>
            <a:pathLst>
              <a:path h="2948507" w="11956545">
                <a:moveTo>
                  <a:pt x="0" y="0"/>
                </a:moveTo>
                <a:lnTo>
                  <a:pt x="11956545" y="0"/>
                </a:lnTo>
                <a:lnTo>
                  <a:pt x="11956545" y="2948507"/>
                </a:lnTo>
                <a:lnTo>
                  <a:pt x="0" y="2948507"/>
                </a:lnTo>
                <a:lnTo>
                  <a:pt x="0" y="0"/>
                </a:lnTo>
                <a:close/>
              </a:path>
            </a:pathLst>
          </a:custGeom>
          <a:blipFill>
            <a:blip r:embed="rId5"/>
            <a:stretch>
              <a:fillRect l="0" t="0" r="0" b="0"/>
            </a:stretch>
          </a:blipFill>
        </p:spPr>
      </p:sp>
      <p:sp>
        <p:nvSpPr>
          <p:cNvPr name="TextBox 10" id="10"/>
          <p:cNvSpPr txBox="true"/>
          <p:nvPr/>
        </p:nvSpPr>
        <p:spPr>
          <a:xfrm rot="0">
            <a:off x="3058457" y="652373"/>
            <a:ext cx="13089220"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PARENT REPLY  (MENS_WARDEN,WOMENS_WARDEN)</a:t>
            </a:r>
          </a:p>
        </p:txBody>
      </p:sp>
      <p:sp>
        <p:nvSpPr>
          <p:cNvPr name="TextBox 11" id="11"/>
          <p:cNvSpPr txBox="true"/>
          <p:nvPr/>
        </p:nvSpPr>
        <p:spPr>
          <a:xfrm rot="0">
            <a:off x="14573193" y="9350780"/>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229290" y="1775760"/>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Freeform 3" id="3"/>
          <p:cNvSpPr/>
          <p:nvPr/>
        </p:nvSpPr>
        <p:spPr>
          <a:xfrm flipH="false" flipV="false" rot="0">
            <a:off x="-11250586" y="-3933278"/>
            <a:ext cx="13745171" cy="10034901"/>
          </a:xfrm>
          <a:custGeom>
            <a:avLst/>
            <a:gdLst/>
            <a:ahLst/>
            <a:cxnLst/>
            <a:rect r="r" b="b" t="t" l="l"/>
            <a:pathLst>
              <a:path h="10034901" w="13745171">
                <a:moveTo>
                  <a:pt x="0" y="0"/>
                </a:moveTo>
                <a:lnTo>
                  <a:pt x="13745171" y="0"/>
                </a:lnTo>
                <a:lnTo>
                  <a:pt x="13745171" y="10034902"/>
                </a:lnTo>
                <a:lnTo>
                  <a:pt x="0" y="10034902"/>
                </a:lnTo>
                <a:lnTo>
                  <a:pt x="0" y="0"/>
                </a:lnTo>
                <a:close/>
              </a:path>
            </a:pathLst>
          </a:custGeom>
          <a:blipFill>
            <a:blip r:embed="rId2"/>
            <a:stretch>
              <a:fillRect l="-523" t="0" r="-523" b="0"/>
            </a:stretch>
          </a:blipFill>
        </p:spPr>
      </p:sp>
      <p:grpSp>
        <p:nvGrpSpPr>
          <p:cNvPr name="Group 4" id="4"/>
          <p:cNvGrpSpPr/>
          <p:nvPr/>
        </p:nvGrpSpPr>
        <p:grpSpPr>
          <a:xfrm rot="0">
            <a:off x="1593050" y="435743"/>
            <a:ext cx="14884568" cy="839660"/>
            <a:chOff x="0" y="0"/>
            <a:chExt cx="3920216" cy="221145"/>
          </a:xfrm>
        </p:grpSpPr>
        <p:sp>
          <p:nvSpPr>
            <p:cNvPr name="Freeform 5" id="5"/>
            <p:cNvSpPr/>
            <p:nvPr/>
          </p:nvSpPr>
          <p:spPr>
            <a:xfrm flipH="false" flipV="false" rot="0">
              <a:off x="0" y="0"/>
              <a:ext cx="3920216" cy="221145"/>
            </a:xfrm>
            <a:custGeom>
              <a:avLst/>
              <a:gdLst/>
              <a:ahLst/>
              <a:cxnLst/>
              <a:rect r="r" b="b" t="t" l="l"/>
              <a:pathLst>
                <a:path h="221145" w="3920216">
                  <a:moveTo>
                    <a:pt x="31208" y="0"/>
                  </a:moveTo>
                  <a:lnTo>
                    <a:pt x="3889008" y="0"/>
                  </a:lnTo>
                  <a:cubicBezTo>
                    <a:pt x="3897285" y="0"/>
                    <a:pt x="3905222" y="3288"/>
                    <a:pt x="3911075" y="9141"/>
                  </a:cubicBezTo>
                  <a:cubicBezTo>
                    <a:pt x="3916928" y="14993"/>
                    <a:pt x="3920216" y="22931"/>
                    <a:pt x="3920216" y="31208"/>
                  </a:cubicBezTo>
                  <a:lnTo>
                    <a:pt x="3920216" y="189937"/>
                  </a:lnTo>
                  <a:cubicBezTo>
                    <a:pt x="3920216" y="198214"/>
                    <a:pt x="3916928" y="206152"/>
                    <a:pt x="3911075" y="212004"/>
                  </a:cubicBezTo>
                  <a:cubicBezTo>
                    <a:pt x="3905222" y="217857"/>
                    <a:pt x="3897285" y="221145"/>
                    <a:pt x="3889008" y="221145"/>
                  </a:cubicBezTo>
                  <a:lnTo>
                    <a:pt x="31208" y="221145"/>
                  </a:lnTo>
                  <a:cubicBezTo>
                    <a:pt x="22931" y="221145"/>
                    <a:pt x="14993" y="217857"/>
                    <a:pt x="9141" y="212004"/>
                  </a:cubicBezTo>
                  <a:cubicBezTo>
                    <a:pt x="3288" y="206152"/>
                    <a:pt x="0" y="198214"/>
                    <a:pt x="0" y="189937"/>
                  </a:cubicBezTo>
                  <a:lnTo>
                    <a:pt x="0" y="31208"/>
                  </a:lnTo>
                  <a:cubicBezTo>
                    <a:pt x="0" y="22931"/>
                    <a:pt x="3288" y="14993"/>
                    <a:pt x="9141" y="9141"/>
                  </a:cubicBezTo>
                  <a:cubicBezTo>
                    <a:pt x="14993" y="3288"/>
                    <a:pt x="22931" y="0"/>
                    <a:pt x="31208" y="0"/>
                  </a:cubicBezTo>
                  <a:close/>
                </a:path>
              </a:pathLst>
            </a:custGeom>
            <a:solidFill>
              <a:srgbClr val="000000"/>
            </a:solidFill>
            <a:ln w="38100" cap="rnd">
              <a:solidFill>
                <a:srgbClr val="FFD944"/>
              </a:solidFill>
              <a:prstDash val="solid"/>
              <a:round/>
            </a:ln>
          </p:spPr>
        </p:sp>
        <p:sp>
          <p:nvSpPr>
            <p:cNvPr name="TextBox 6" id="6"/>
            <p:cNvSpPr txBox="true"/>
            <p:nvPr/>
          </p:nvSpPr>
          <p:spPr>
            <a:xfrm>
              <a:off x="0" y="-38100"/>
              <a:ext cx="3920216" cy="25924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048244" y="626973"/>
            <a:ext cx="446341" cy="457200"/>
          </a:xfrm>
          <a:custGeom>
            <a:avLst/>
            <a:gdLst/>
            <a:ahLst/>
            <a:cxnLst/>
            <a:rect r="r" b="b" t="t" l="l"/>
            <a:pathLst>
              <a:path h="457200" w="446341">
                <a:moveTo>
                  <a:pt x="0" y="0"/>
                </a:moveTo>
                <a:lnTo>
                  <a:pt x="446341" y="0"/>
                </a:lnTo>
                <a:lnTo>
                  <a:pt x="446341" y="457200"/>
                </a:lnTo>
                <a:lnTo>
                  <a:pt x="0" y="457200"/>
                </a:lnTo>
                <a:lnTo>
                  <a:pt x="0" y="0"/>
                </a:lnTo>
                <a:close/>
              </a:path>
            </a:pathLst>
          </a:custGeom>
          <a:blipFill>
            <a:blip r:embed="rId3"/>
            <a:stretch>
              <a:fillRect l="0" t="0" r="0" b="0"/>
            </a:stretch>
          </a:blipFill>
        </p:spPr>
      </p:sp>
      <p:sp>
        <p:nvSpPr>
          <p:cNvPr name="Freeform 8" id="8"/>
          <p:cNvSpPr/>
          <p:nvPr/>
        </p:nvSpPr>
        <p:spPr>
          <a:xfrm flipH="false" flipV="false" rot="0">
            <a:off x="801930" y="1476899"/>
            <a:ext cx="9405067" cy="4406745"/>
          </a:xfrm>
          <a:custGeom>
            <a:avLst/>
            <a:gdLst/>
            <a:ahLst/>
            <a:cxnLst/>
            <a:rect r="r" b="b" t="t" l="l"/>
            <a:pathLst>
              <a:path h="4406745" w="9405067">
                <a:moveTo>
                  <a:pt x="0" y="0"/>
                </a:moveTo>
                <a:lnTo>
                  <a:pt x="9405067" y="0"/>
                </a:lnTo>
                <a:lnTo>
                  <a:pt x="9405067" y="4406745"/>
                </a:lnTo>
                <a:lnTo>
                  <a:pt x="0" y="4406745"/>
                </a:lnTo>
                <a:lnTo>
                  <a:pt x="0" y="0"/>
                </a:lnTo>
                <a:close/>
              </a:path>
            </a:pathLst>
          </a:custGeom>
          <a:blipFill>
            <a:blip r:embed="rId4"/>
            <a:stretch>
              <a:fillRect l="0" t="0" r="0" b="0"/>
            </a:stretch>
          </a:blipFill>
        </p:spPr>
      </p:sp>
      <p:sp>
        <p:nvSpPr>
          <p:cNvPr name="Freeform 9" id="9"/>
          <p:cNvSpPr/>
          <p:nvPr/>
        </p:nvSpPr>
        <p:spPr>
          <a:xfrm flipH="false" flipV="false" rot="0">
            <a:off x="5504463" y="6083669"/>
            <a:ext cx="11325165" cy="3999822"/>
          </a:xfrm>
          <a:custGeom>
            <a:avLst/>
            <a:gdLst/>
            <a:ahLst/>
            <a:cxnLst/>
            <a:rect r="r" b="b" t="t" l="l"/>
            <a:pathLst>
              <a:path h="3999822" w="11325165">
                <a:moveTo>
                  <a:pt x="0" y="0"/>
                </a:moveTo>
                <a:lnTo>
                  <a:pt x="11325165" y="0"/>
                </a:lnTo>
                <a:lnTo>
                  <a:pt x="11325165" y="3999822"/>
                </a:lnTo>
                <a:lnTo>
                  <a:pt x="0" y="3999822"/>
                </a:lnTo>
                <a:lnTo>
                  <a:pt x="0" y="0"/>
                </a:lnTo>
                <a:close/>
              </a:path>
            </a:pathLst>
          </a:custGeom>
          <a:blipFill>
            <a:blip r:embed="rId5"/>
            <a:stretch>
              <a:fillRect l="0" t="0" r="0" b="0"/>
            </a:stretch>
          </a:blipFill>
        </p:spPr>
      </p:sp>
      <p:sp>
        <p:nvSpPr>
          <p:cNvPr name="TextBox 10" id="10"/>
          <p:cNvSpPr txBox="true"/>
          <p:nvPr/>
        </p:nvSpPr>
        <p:spPr>
          <a:xfrm rot="0">
            <a:off x="3058457" y="652373"/>
            <a:ext cx="13089220"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VIEW PARENT REPLY  (MENS_WARDEN,WOMENS_WARDEN)</a:t>
            </a:r>
          </a:p>
        </p:txBody>
      </p:sp>
      <p:sp>
        <p:nvSpPr>
          <p:cNvPr name="TextBox 11" id="11"/>
          <p:cNvSpPr txBox="true"/>
          <p:nvPr/>
        </p:nvSpPr>
        <p:spPr>
          <a:xfrm rot="0">
            <a:off x="14560669" y="9191625"/>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229290" y="1775760"/>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Freeform 3" id="3"/>
          <p:cNvSpPr/>
          <p:nvPr/>
        </p:nvSpPr>
        <p:spPr>
          <a:xfrm flipH="false" flipV="false" rot="0">
            <a:off x="-11250586" y="-3933278"/>
            <a:ext cx="13745171" cy="10034901"/>
          </a:xfrm>
          <a:custGeom>
            <a:avLst/>
            <a:gdLst/>
            <a:ahLst/>
            <a:cxnLst/>
            <a:rect r="r" b="b" t="t" l="l"/>
            <a:pathLst>
              <a:path h="10034901" w="13745171">
                <a:moveTo>
                  <a:pt x="0" y="0"/>
                </a:moveTo>
                <a:lnTo>
                  <a:pt x="13745171" y="0"/>
                </a:lnTo>
                <a:lnTo>
                  <a:pt x="13745171" y="10034902"/>
                </a:lnTo>
                <a:lnTo>
                  <a:pt x="0" y="10034902"/>
                </a:lnTo>
                <a:lnTo>
                  <a:pt x="0" y="0"/>
                </a:lnTo>
                <a:close/>
              </a:path>
            </a:pathLst>
          </a:custGeom>
          <a:blipFill>
            <a:blip r:embed="rId2"/>
            <a:stretch>
              <a:fillRect l="-523" t="0" r="-523" b="0"/>
            </a:stretch>
          </a:blipFill>
        </p:spPr>
      </p:sp>
      <p:grpSp>
        <p:nvGrpSpPr>
          <p:cNvPr name="Group 4" id="4"/>
          <p:cNvGrpSpPr/>
          <p:nvPr/>
        </p:nvGrpSpPr>
        <p:grpSpPr>
          <a:xfrm rot="0">
            <a:off x="1593050" y="435743"/>
            <a:ext cx="14884568" cy="839660"/>
            <a:chOff x="0" y="0"/>
            <a:chExt cx="3920216" cy="221145"/>
          </a:xfrm>
        </p:grpSpPr>
        <p:sp>
          <p:nvSpPr>
            <p:cNvPr name="Freeform 5" id="5"/>
            <p:cNvSpPr/>
            <p:nvPr/>
          </p:nvSpPr>
          <p:spPr>
            <a:xfrm flipH="false" flipV="false" rot="0">
              <a:off x="0" y="0"/>
              <a:ext cx="3920216" cy="221145"/>
            </a:xfrm>
            <a:custGeom>
              <a:avLst/>
              <a:gdLst/>
              <a:ahLst/>
              <a:cxnLst/>
              <a:rect r="r" b="b" t="t" l="l"/>
              <a:pathLst>
                <a:path h="221145" w="3920216">
                  <a:moveTo>
                    <a:pt x="31208" y="0"/>
                  </a:moveTo>
                  <a:lnTo>
                    <a:pt x="3889008" y="0"/>
                  </a:lnTo>
                  <a:cubicBezTo>
                    <a:pt x="3897285" y="0"/>
                    <a:pt x="3905222" y="3288"/>
                    <a:pt x="3911075" y="9141"/>
                  </a:cubicBezTo>
                  <a:cubicBezTo>
                    <a:pt x="3916928" y="14993"/>
                    <a:pt x="3920216" y="22931"/>
                    <a:pt x="3920216" y="31208"/>
                  </a:cubicBezTo>
                  <a:lnTo>
                    <a:pt x="3920216" y="189937"/>
                  </a:lnTo>
                  <a:cubicBezTo>
                    <a:pt x="3920216" y="198214"/>
                    <a:pt x="3916928" y="206152"/>
                    <a:pt x="3911075" y="212004"/>
                  </a:cubicBezTo>
                  <a:cubicBezTo>
                    <a:pt x="3905222" y="217857"/>
                    <a:pt x="3897285" y="221145"/>
                    <a:pt x="3889008" y="221145"/>
                  </a:cubicBezTo>
                  <a:lnTo>
                    <a:pt x="31208" y="221145"/>
                  </a:lnTo>
                  <a:cubicBezTo>
                    <a:pt x="22931" y="221145"/>
                    <a:pt x="14993" y="217857"/>
                    <a:pt x="9141" y="212004"/>
                  </a:cubicBezTo>
                  <a:cubicBezTo>
                    <a:pt x="3288" y="206152"/>
                    <a:pt x="0" y="198214"/>
                    <a:pt x="0" y="189937"/>
                  </a:cubicBezTo>
                  <a:lnTo>
                    <a:pt x="0" y="31208"/>
                  </a:lnTo>
                  <a:cubicBezTo>
                    <a:pt x="0" y="22931"/>
                    <a:pt x="3288" y="14993"/>
                    <a:pt x="9141" y="9141"/>
                  </a:cubicBezTo>
                  <a:cubicBezTo>
                    <a:pt x="14993" y="3288"/>
                    <a:pt x="22931" y="0"/>
                    <a:pt x="31208" y="0"/>
                  </a:cubicBezTo>
                  <a:close/>
                </a:path>
              </a:pathLst>
            </a:custGeom>
            <a:solidFill>
              <a:srgbClr val="000000"/>
            </a:solidFill>
            <a:ln w="38100" cap="rnd">
              <a:solidFill>
                <a:srgbClr val="FFD944"/>
              </a:solidFill>
              <a:prstDash val="solid"/>
              <a:round/>
            </a:ln>
          </p:spPr>
        </p:sp>
        <p:sp>
          <p:nvSpPr>
            <p:cNvPr name="TextBox 6" id="6"/>
            <p:cNvSpPr txBox="true"/>
            <p:nvPr/>
          </p:nvSpPr>
          <p:spPr>
            <a:xfrm>
              <a:off x="0" y="-38100"/>
              <a:ext cx="3920216" cy="25924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048244" y="626973"/>
            <a:ext cx="446341" cy="457200"/>
          </a:xfrm>
          <a:custGeom>
            <a:avLst/>
            <a:gdLst/>
            <a:ahLst/>
            <a:cxnLst/>
            <a:rect r="r" b="b" t="t" l="l"/>
            <a:pathLst>
              <a:path h="457200" w="446341">
                <a:moveTo>
                  <a:pt x="0" y="0"/>
                </a:moveTo>
                <a:lnTo>
                  <a:pt x="446341" y="0"/>
                </a:lnTo>
                <a:lnTo>
                  <a:pt x="446341" y="457200"/>
                </a:lnTo>
                <a:lnTo>
                  <a:pt x="0" y="457200"/>
                </a:lnTo>
                <a:lnTo>
                  <a:pt x="0" y="0"/>
                </a:lnTo>
                <a:close/>
              </a:path>
            </a:pathLst>
          </a:custGeom>
          <a:blipFill>
            <a:blip r:embed="rId3"/>
            <a:stretch>
              <a:fillRect l="0" t="0" r="0" b="0"/>
            </a:stretch>
          </a:blipFill>
        </p:spPr>
      </p:sp>
      <p:sp>
        <p:nvSpPr>
          <p:cNvPr name="Freeform 8" id="8"/>
          <p:cNvSpPr/>
          <p:nvPr/>
        </p:nvSpPr>
        <p:spPr>
          <a:xfrm flipH="false" flipV="false" rot="0">
            <a:off x="336144" y="1487143"/>
            <a:ext cx="10492044" cy="4325864"/>
          </a:xfrm>
          <a:custGeom>
            <a:avLst/>
            <a:gdLst/>
            <a:ahLst/>
            <a:cxnLst/>
            <a:rect r="r" b="b" t="t" l="l"/>
            <a:pathLst>
              <a:path h="4325864" w="10492044">
                <a:moveTo>
                  <a:pt x="0" y="0"/>
                </a:moveTo>
                <a:lnTo>
                  <a:pt x="10492044" y="0"/>
                </a:lnTo>
                <a:lnTo>
                  <a:pt x="10492044" y="4325864"/>
                </a:lnTo>
                <a:lnTo>
                  <a:pt x="0" y="4325864"/>
                </a:lnTo>
                <a:lnTo>
                  <a:pt x="0" y="0"/>
                </a:lnTo>
                <a:close/>
              </a:path>
            </a:pathLst>
          </a:custGeom>
          <a:blipFill>
            <a:blip r:embed="rId4"/>
            <a:stretch>
              <a:fillRect l="0" t="0" r="0" b="0"/>
            </a:stretch>
          </a:blipFill>
        </p:spPr>
      </p:sp>
      <p:sp>
        <p:nvSpPr>
          <p:cNvPr name="Freeform 9" id="9"/>
          <p:cNvSpPr/>
          <p:nvPr/>
        </p:nvSpPr>
        <p:spPr>
          <a:xfrm flipH="false" flipV="false" rot="0">
            <a:off x="7331933" y="6022557"/>
            <a:ext cx="9145685" cy="4059367"/>
          </a:xfrm>
          <a:custGeom>
            <a:avLst/>
            <a:gdLst/>
            <a:ahLst/>
            <a:cxnLst/>
            <a:rect r="r" b="b" t="t" l="l"/>
            <a:pathLst>
              <a:path h="4059367" w="9145685">
                <a:moveTo>
                  <a:pt x="0" y="0"/>
                </a:moveTo>
                <a:lnTo>
                  <a:pt x="9145685" y="0"/>
                </a:lnTo>
                <a:lnTo>
                  <a:pt x="9145685" y="4059366"/>
                </a:lnTo>
                <a:lnTo>
                  <a:pt x="0" y="4059366"/>
                </a:lnTo>
                <a:lnTo>
                  <a:pt x="0" y="0"/>
                </a:lnTo>
                <a:close/>
              </a:path>
            </a:pathLst>
          </a:custGeom>
          <a:blipFill>
            <a:blip r:embed="rId5"/>
            <a:stretch>
              <a:fillRect l="0" t="0" r="0" b="0"/>
            </a:stretch>
          </a:blipFill>
        </p:spPr>
      </p:sp>
      <p:sp>
        <p:nvSpPr>
          <p:cNvPr name="TextBox 10" id="10"/>
          <p:cNvSpPr txBox="true"/>
          <p:nvPr/>
        </p:nvSpPr>
        <p:spPr>
          <a:xfrm rot="0">
            <a:off x="3058457" y="652373"/>
            <a:ext cx="13089220"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LEAVE REPORT  (MENS_WARDEN,WOMENS_WARDEN)</a:t>
            </a:r>
          </a:p>
        </p:txBody>
      </p:sp>
      <p:sp>
        <p:nvSpPr>
          <p:cNvPr name="TextBox 11" id="11"/>
          <p:cNvSpPr txBox="true"/>
          <p:nvPr/>
        </p:nvSpPr>
        <p:spPr>
          <a:xfrm rot="0">
            <a:off x="14609992" y="9191625"/>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229290" y="1775760"/>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Freeform 3" id="3"/>
          <p:cNvSpPr/>
          <p:nvPr/>
        </p:nvSpPr>
        <p:spPr>
          <a:xfrm flipH="false" flipV="false" rot="0">
            <a:off x="-11250586" y="-3933278"/>
            <a:ext cx="13745171" cy="10034901"/>
          </a:xfrm>
          <a:custGeom>
            <a:avLst/>
            <a:gdLst/>
            <a:ahLst/>
            <a:cxnLst/>
            <a:rect r="r" b="b" t="t" l="l"/>
            <a:pathLst>
              <a:path h="10034901" w="13745171">
                <a:moveTo>
                  <a:pt x="0" y="0"/>
                </a:moveTo>
                <a:lnTo>
                  <a:pt x="13745171" y="0"/>
                </a:lnTo>
                <a:lnTo>
                  <a:pt x="13745171" y="10034902"/>
                </a:lnTo>
                <a:lnTo>
                  <a:pt x="0" y="10034902"/>
                </a:lnTo>
                <a:lnTo>
                  <a:pt x="0" y="0"/>
                </a:lnTo>
                <a:close/>
              </a:path>
            </a:pathLst>
          </a:custGeom>
          <a:blipFill>
            <a:blip r:embed="rId2"/>
            <a:stretch>
              <a:fillRect l="-523" t="0" r="-523" b="0"/>
            </a:stretch>
          </a:blipFill>
        </p:spPr>
      </p:sp>
      <p:grpSp>
        <p:nvGrpSpPr>
          <p:cNvPr name="Group 4" id="4"/>
          <p:cNvGrpSpPr/>
          <p:nvPr/>
        </p:nvGrpSpPr>
        <p:grpSpPr>
          <a:xfrm rot="0">
            <a:off x="1593050" y="435743"/>
            <a:ext cx="14884568" cy="839660"/>
            <a:chOff x="0" y="0"/>
            <a:chExt cx="3920216" cy="221145"/>
          </a:xfrm>
        </p:grpSpPr>
        <p:sp>
          <p:nvSpPr>
            <p:cNvPr name="Freeform 5" id="5"/>
            <p:cNvSpPr/>
            <p:nvPr/>
          </p:nvSpPr>
          <p:spPr>
            <a:xfrm flipH="false" flipV="false" rot="0">
              <a:off x="0" y="0"/>
              <a:ext cx="3920216" cy="221145"/>
            </a:xfrm>
            <a:custGeom>
              <a:avLst/>
              <a:gdLst/>
              <a:ahLst/>
              <a:cxnLst/>
              <a:rect r="r" b="b" t="t" l="l"/>
              <a:pathLst>
                <a:path h="221145" w="3920216">
                  <a:moveTo>
                    <a:pt x="31208" y="0"/>
                  </a:moveTo>
                  <a:lnTo>
                    <a:pt x="3889008" y="0"/>
                  </a:lnTo>
                  <a:cubicBezTo>
                    <a:pt x="3897285" y="0"/>
                    <a:pt x="3905222" y="3288"/>
                    <a:pt x="3911075" y="9141"/>
                  </a:cubicBezTo>
                  <a:cubicBezTo>
                    <a:pt x="3916928" y="14993"/>
                    <a:pt x="3920216" y="22931"/>
                    <a:pt x="3920216" y="31208"/>
                  </a:cubicBezTo>
                  <a:lnTo>
                    <a:pt x="3920216" y="189937"/>
                  </a:lnTo>
                  <a:cubicBezTo>
                    <a:pt x="3920216" y="198214"/>
                    <a:pt x="3916928" y="206152"/>
                    <a:pt x="3911075" y="212004"/>
                  </a:cubicBezTo>
                  <a:cubicBezTo>
                    <a:pt x="3905222" y="217857"/>
                    <a:pt x="3897285" y="221145"/>
                    <a:pt x="3889008" y="221145"/>
                  </a:cubicBezTo>
                  <a:lnTo>
                    <a:pt x="31208" y="221145"/>
                  </a:lnTo>
                  <a:cubicBezTo>
                    <a:pt x="22931" y="221145"/>
                    <a:pt x="14993" y="217857"/>
                    <a:pt x="9141" y="212004"/>
                  </a:cubicBezTo>
                  <a:cubicBezTo>
                    <a:pt x="3288" y="206152"/>
                    <a:pt x="0" y="198214"/>
                    <a:pt x="0" y="189937"/>
                  </a:cubicBezTo>
                  <a:lnTo>
                    <a:pt x="0" y="31208"/>
                  </a:lnTo>
                  <a:cubicBezTo>
                    <a:pt x="0" y="22931"/>
                    <a:pt x="3288" y="14993"/>
                    <a:pt x="9141" y="9141"/>
                  </a:cubicBezTo>
                  <a:cubicBezTo>
                    <a:pt x="14993" y="3288"/>
                    <a:pt x="22931" y="0"/>
                    <a:pt x="31208" y="0"/>
                  </a:cubicBezTo>
                  <a:close/>
                </a:path>
              </a:pathLst>
            </a:custGeom>
            <a:solidFill>
              <a:srgbClr val="000000"/>
            </a:solidFill>
            <a:ln w="38100" cap="rnd">
              <a:solidFill>
                <a:srgbClr val="FFD944"/>
              </a:solidFill>
              <a:prstDash val="solid"/>
              <a:round/>
            </a:ln>
          </p:spPr>
        </p:sp>
        <p:sp>
          <p:nvSpPr>
            <p:cNvPr name="TextBox 6" id="6"/>
            <p:cNvSpPr txBox="true"/>
            <p:nvPr/>
          </p:nvSpPr>
          <p:spPr>
            <a:xfrm>
              <a:off x="0" y="-38100"/>
              <a:ext cx="3920216" cy="25924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048244" y="626973"/>
            <a:ext cx="446341" cy="457200"/>
          </a:xfrm>
          <a:custGeom>
            <a:avLst/>
            <a:gdLst/>
            <a:ahLst/>
            <a:cxnLst/>
            <a:rect r="r" b="b" t="t" l="l"/>
            <a:pathLst>
              <a:path h="457200" w="446341">
                <a:moveTo>
                  <a:pt x="0" y="0"/>
                </a:moveTo>
                <a:lnTo>
                  <a:pt x="446341" y="0"/>
                </a:lnTo>
                <a:lnTo>
                  <a:pt x="446341" y="457200"/>
                </a:lnTo>
                <a:lnTo>
                  <a:pt x="0" y="457200"/>
                </a:lnTo>
                <a:lnTo>
                  <a:pt x="0" y="0"/>
                </a:lnTo>
                <a:close/>
              </a:path>
            </a:pathLst>
          </a:custGeom>
          <a:blipFill>
            <a:blip r:embed="rId3"/>
            <a:stretch>
              <a:fillRect l="0" t="0" r="0" b="0"/>
            </a:stretch>
          </a:blipFill>
        </p:spPr>
      </p:sp>
      <p:sp>
        <p:nvSpPr>
          <p:cNvPr name="Freeform 8" id="8"/>
          <p:cNvSpPr/>
          <p:nvPr/>
        </p:nvSpPr>
        <p:spPr>
          <a:xfrm flipH="false" flipV="false" rot="0">
            <a:off x="2494585" y="2140122"/>
            <a:ext cx="13374780" cy="6501528"/>
          </a:xfrm>
          <a:custGeom>
            <a:avLst/>
            <a:gdLst/>
            <a:ahLst/>
            <a:cxnLst/>
            <a:rect r="r" b="b" t="t" l="l"/>
            <a:pathLst>
              <a:path h="6501528" w="13374780">
                <a:moveTo>
                  <a:pt x="0" y="0"/>
                </a:moveTo>
                <a:lnTo>
                  <a:pt x="13374780" y="0"/>
                </a:lnTo>
                <a:lnTo>
                  <a:pt x="13374780" y="6501528"/>
                </a:lnTo>
                <a:lnTo>
                  <a:pt x="0" y="6501528"/>
                </a:lnTo>
                <a:lnTo>
                  <a:pt x="0" y="0"/>
                </a:lnTo>
                <a:close/>
              </a:path>
            </a:pathLst>
          </a:custGeom>
          <a:blipFill>
            <a:blip r:embed="rId4"/>
            <a:stretch>
              <a:fillRect l="0" t="0" r="0" b="0"/>
            </a:stretch>
          </a:blipFill>
        </p:spPr>
      </p:sp>
      <p:sp>
        <p:nvSpPr>
          <p:cNvPr name="TextBox 9" id="9"/>
          <p:cNvSpPr txBox="true"/>
          <p:nvPr/>
        </p:nvSpPr>
        <p:spPr>
          <a:xfrm rot="0">
            <a:off x="3058457" y="652373"/>
            <a:ext cx="13089220"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APPROVED STUDENT LIST (WATCHMAN PAGE)</a:t>
            </a:r>
          </a:p>
        </p:txBody>
      </p:sp>
      <p:sp>
        <p:nvSpPr>
          <p:cNvPr name="TextBox 10" id="10"/>
          <p:cNvSpPr txBox="true"/>
          <p:nvPr/>
        </p:nvSpPr>
        <p:spPr>
          <a:xfrm rot="0">
            <a:off x="14515006" y="9191625"/>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229290" y="1775760"/>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Freeform 3" id="3"/>
          <p:cNvSpPr/>
          <p:nvPr/>
        </p:nvSpPr>
        <p:spPr>
          <a:xfrm flipH="false" flipV="false" rot="0">
            <a:off x="-11250586" y="-3933278"/>
            <a:ext cx="13745171" cy="10034901"/>
          </a:xfrm>
          <a:custGeom>
            <a:avLst/>
            <a:gdLst/>
            <a:ahLst/>
            <a:cxnLst/>
            <a:rect r="r" b="b" t="t" l="l"/>
            <a:pathLst>
              <a:path h="10034901" w="13745171">
                <a:moveTo>
                  <a:pt x="0" y="0"/>
                </a:moveTo>
                <a:lnTo>
                  <a:pt x="13745171" y="0"/>
                </a:lnTo>
                <a:lnTo>
                  <a:pt x="13745171" y="10034902"/>
                </a:lnTo>
                <a:lnTo>
                  <a:pt x="0" y="10034902"/>
                </a:lnTo>
                <a:lnTo>
                  <a:pt x="0" y="0"/>
                </a:lnTo>
                <a:close/>
              </a:path>
            </a:pathLst>
          </a:custGeom>
          <a:blipFill>
            <a:blip r:embed="rId2"/>
            <a:stretch>
              <a:fillRect l="-523" t="0" r="-523" b="0"/>
            </a:stretch>
          </a:blipFill>
        </p:spPr>
      </p:sp>
      <p:grpSp>
        <p:nvGrpSpPr>
          <p:cNvPr name="Group 4" id="4"/>
          <p:cNvGrpSpPr/>
          <p:nvPr/>
        </p:nvGrpSpPr>
        <p:grpSpPr>
          <a:xfrm rot="0">
            <a:off x="1593050" y="435743"/>
            <a:ext cx="14884568" cy="839660"/>
            <a:chOff x="0" y="0"/>
            <a:chExt cx="3920216" cy="221145"/>
          </a:xfrm>
        </p:grpSpPr>
        <p:sp>
          <p:nvSpPr>
            <p:cNvPr name="Freeform 5" id="5"/>
            <p:cNvSpPr/>
            <p:nvPr/>
          </p:nvSpPr>
          <p:spPr>
            <a:xfrm flipH="false" flipV="false" rot="0">
              <a:off x="0" y="0"/>
              <a:ext cx="3920216" cy="221145"/>
            </a:xfrm>
            <a:custGeom>
              <a:avLst/>
              <a:gdLst/>
              <a:ahLst/>
              <a:cxnLst/>
              <a:rect r="r" b="b" t="t" l="l"/>
              <a:pathLst>
                <a:path h="221145" w="3920216">
                  <a:moveTo>
                    <a:pt x="31208" y="0"/>
                  </a:moveTo>
                  <a:lnTo>
                    <a:pt x="3889008" y="0"/>
                  </a:lnTo>
                  <a:cubicBezTo>
                    <a:pt x="3897285" y="0"/>
                    <a:pt x="3905222" y="3288"/>
                    <a:pt x="3911075" y="9141"/>
                  </a:cubicBezTo>
                  <a:cubicBezTo>
                    <a:pt x="3916928" y="14993"/>
                    <a:pt x="3920216" y="22931"/>
                    <a:pt x="3920216" y="31208"/>
                  </a:cubicBezTo>
                  <a:lnTo>
                    <a:pt x="3920216" y="189937"/>
                  </a:lnTo>
                  <a:cubicBezTo>
                    <a:pt x="3920216" y="198214"/>
                    <a:pt x="3916928" y="206152"/>
                    <a:pt x="3911075" y="212004"/>
                  </a:cubicBezTo>
                  <a:cubicBezTo>
                    <a:pt x="3905222" y="217857"/>
                    <a:pt x="3897285" y="221145"/>
                    <a:pt x="3889008" y="221145"/>
                  </a:cubicBezTo>
                  <a:lnTo>
                    <a:pt x="31208" y="221145"/>
                  </a:lnTo>
                  <a:cubicBezTo>
                    <a:pt x="22931" y="221145"/>
                    <a:pt x="14993" y="217857"/>
                    <a:pt x="9141" y="212004"/>
                  </a:cubicBezTo>
                  <a:cubicBezTo>
                    <a:pt x="3288" y="206152"/>
                    <a:pt x="0" y="198214"/>
                    <a:pt x="0" y="189937"/>
                  </a:cubicBezTo>
                  <a:lnTo>
                    <a:pt x="0" y="31208"/>
                  </a:lnTo>
                  <a:cubicBezTo>
                    <a:pt x="0" y="22931"/>
                    <a:pt x="3288" y="14993"/>
                    <a:pt x="9141" y="9141"/>
                  </a:cubicBezTo>
                  <a:cubicBezTo>
                    <a:pt x="14993" y="3288"/>
                    <a:pt x="22931" y="0"/>
                    <a:pt x="31208" y="0"/>
                  </a:cubicBezTo>
                  <a:close/>
                </a:path>
              </a:pathLst>
            </a:custGeom>
            <a:solidFill>
              <a:srgbClr val="000000"/>
            </a:solidFill>
            <a:ln w="38100" cap="rnd">
              <a:solidFill>
                <a:srgbClr val="FFD944"/>
              </a:solidFill>
              <a:prstDash val="solid"/>
              <a:round/>
            </a:ln>
          </p:spPr>
        </p:sp>
        <p:sp>
          <p:nvSpPr>
            <p:cNvPr name="TextBox 6" id="6"/>
            <p:cNvSpPr txBox="true"/>
            <p:nvPr/>
          </p:nvSpPr>
          <p:spPr>
            <a:xfrm>
              <a:off x="0" y="-38100"/>
              <a:ext cx="3920216" cy="25924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048244" y="626973"/>
            <a:ext cx="446341" cy="457200"/>
          </a:xfrm>
          <a:custGeom>
            <a:avLst/>
            <a:gdLst/>
            <a:ahLst/>
            <a:cxnLst/>
            <a:rect r="r" b="b" t="t" l="l"/>
            <a:pathLst>
              <a:path h="457200" w="446341">
                <a:moveTo>
                  <a:pt x="0" y="0"/>
                </a:moveTo>
                <a:lnTo>
                  <a:pt x="446341" y="0"/>
                </a:lnTo>
                <a:lnTo>
                  <a:pt x="446341" y="457200"/>
                </a:lnTo>
                <a:lnTo>
                  <a:pt x="0" y="457200"/>
                </a:lnTo>
                <a:lnTo>
                  <a:pt x="0" y="0"/>
                </a:lnTo>
                <a:close/>
              </a:path>
            </a:pathLst>
          </a:custGeom>
          <a:blipFill>
            <a:blip r:embed="rId3"/>
            <a:stretch>
              <a:fillRect l="0" t="0" r="0" b="0"/>
            </a:stretch>
          </a:blipFill>
        </p:spPr>
      </p:sp>
      <p:sp>
        <p:nvSpPr>
          <p:cNvPr name="Freeform 8" id="8"/>
          <p:cNvSpPr/>
          <p:nvPr/>
        </p:nvSpPr>
        <p:spPr>
          <a:xfrm flipH="false" flipV="false" rot="0">
            <a:off x="618470" y="2619343"/>
            <a:ext cx="7610821" cy="5699991"/>
          </a:xfrm>
          <a:custGeom>
            <a:avLst/>
            <a:gdLst/>
            <a:ahLst/>
            <a:cxnLst/>
            <a:rect r="r" b="b" t="t" l="l"/>
            <a:pathLst>
              <a:path h="5699991" w="7610821">
                <a:moveTo>
                  <a:pt x="0" y="0"/>
                </a:moveTo>
                <a:lnTo>
                  <a:pt x="7610820" y="0"/>
                </a:lnTo>
                <a:lnTo>
                  <a:pt x="7610820" y="5699991"/>
                </a:lnTo>
                <a:lnTo>
                  <a:pt x="0" y="5699991"/>
                </a:lnTo>
                <a:lnTo>
                  <a:pt x="0" y="0"/>
                </a:lnTo>
                <a:close/>
              </a:path>
            </a:pathLst>
          </a:custGeom>
          <a:blipFill>
            <a:blip r:embed="rId4"/>
            <a:stretch>
              <a:fillRect l="0" t="0" r="0" b="0"/>
            </a:stretch>
          </a:blipFill>
        </p:spPr>
      </p:sp>
      <p:sp>
        <p:nvSpPr>
          <p:cNvPr name="Freeform 9" id="9"/>
          <p:cNvSpPr/>
          <p:nvPr/>
        </p:nvSpPr>
        <p:spPr>
          <a:xfrm flipH="false" flipV="false" rot="0">
            <a:off x="8561178" y="3056566"/>
            <a:ext cx="9252666" cy="4173868"/>
          </a:xfrm>
          <a:custGeom>
            <a:avLst/>
            <a:gdLst/>
            <a:ahLst/>
            <a:cxnLst/>
            <a:rect r="r" b="b" t="t" l="l"/>
            <a:pathLst>
              <a:path h="4173868" w="9252666">
                <a:moveTo>
                  <a:pt x="0" y="0"/>
                </a:moveTo>
                <a:lnTo>
                  <a:pt x="9252666" y="0"/>
                </a:lnTo>
                <a:lnTo>
                  <a:pt x="9252666" y="4173868"/>
                </a:lnTo>
                <a:lnTo>
                  <a:pt x="0" y="4173868"/>
                </a:lnTo>
                <a:lnTo>
                  <a:pt x="0" y="0"/>
                </a:lnTo>
                <a:close/>
              </a:path>
            </a:pathLst>
          </a:custGeom>
          <a:blipFill>
            <a:blip r:embed="rId5"/>
            <a:stretch>
              <a:fillRect l="0" t="0" r="0" b="0"/>
            </a:stretch>
          </a:blipFill>
        </p:spPr>
      </p:sp>
      <p:sp>
        <p:nvSpPr>
          <p:cNvPr name="TextBox 10" id="10"/>
          <p:cNvSpPr txBox="true"/>
          <p:nvPr/>
        </p:nvSpPr>
        <p:spPr>
          <a:xfrm rot="0">
            <a:off x="3058457" y="652373"/>
            <a:ext cx="13089220"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ADD VISITORS AND VIEW ALL VISITORS  (WATCHMAN PAGE)</a:t>
            </a:r>
          </a:p>
        </p:txBody>
      </p:sp>
      <p:sp>
        <p:nvSpPr>
          <p:cNvPr name="TextBox 11" id="11"/>
          <p:cNvSpPr txBox="true"/>
          <p:nvPr/>
        </p:nvSpPr>
        <p:spPr>
          <a:xfrm rot="0">
            <a:off x="14543713" y="9191625"/>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229290" y="1775760"/>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Freeform 3" id="3"/>
          <p:cNvSpPr/>
          <p:nvPr/>
        </p:nvSpPr>
        <p:spPr>
          <a:xfrm flipH="false" flipV="false" rot="0">
            <a:off x="-11250586" y="-3933278"/>
            <a:ext cx="13745171" cy="10034901"/>
          </a:xfrm>
          <a:custGeom>
            <a:avLst/>
            <a:gdLst/>
            <a:ahLst/>
            <a:cxnLst/>
            <a:rect r="r" b="b" t="t" l="l"/>
            <a:pathLst>
              <a:path h="10034901" w="13745171">
                <a:moveTo>
                  <a:pt x="0" y="0"/>
                </a:moveTo>
                <a:lnTo>
                  <a:pt x="13745171" y="0"/>
                </a:lnTo>
                <a:lnTo>
                  <a:pt x="13745171" y="10034902"/>
                </a:lnTo>
                <a:lnTo>
                  <a:pt x="0" y="10034902"/>
                </a:lnTo>
                <a:lnTo>
                  <a:pt x="0" y="0"/>
                </a:lnTo>
                <a:close/>
              </a:path>
            </a:pathLst>
          </a:custGeom>
          <a:blipFill>
            <a:blip r:embed="rId2"/>
            <a:stretch>
              <a:fillRect l="-523" t="0" r="-523" b="0"/>
            </a:stretch>
          </a:blipFill>
        </p:spPr>
      </p:sp>
      <p:grpSp>
        <p:nvGrpSpPr>
          <p:cNvPr name="Group 4" id="4"/>
          <p:cNvGrpSpPr/>
          <p:nvPr/>
        </p:nvGrpSpPr>
        <p:grpSpPr>
          <a:xfrm rot="0">
            <a:off x="1593050" y="435743"/>
            <a:ext cx="14884568" cy="839660"/>
            <a:chOff x="0" y="0"/>
            <a:chExt cx="3920216" cy="221145"/>
          </a:xfrm>
        </p:grpSpPr>
        <p:sp>
          <p:nvSpPr>
            <p:cNvPr name="Freeform 5" id="5"/>
            <p:cNvSpPr/>
            <p:nvPr/>
          </p:nvSpPr>
          <p:spPr>
            <a:xfrm flipH="false" flipV="false" rot="0">
              <a:off x="0" y="0"/>
              <a:ext cx="3920216" cy="221145"/>
            </a:xfrm>
            <a:custGeom>
              <a:avLst/>
              <a:gdLst/>
              <a:ahLst/>
              <a:cxnLst/>
              <a:rect r="r" b="b" t="t" l="l"/>
              <a:pathLst>
                <a:path h="221145" w="3920216">
                  <a:moveTo>
                    <a:pt x="31208" y="0"/>
                  </a:moveTo>
                  <a:lnTo>
                    <a:pt x="3889008" y="0"/>
                  </a:lnTo>
                  <a:cubicBezTo>
                    <a:pt x="3897285" y="0"/>
                    <a:pt x="3905222" y="3288"/>
                    <a:pt x="3911075" y="9141"/>
                  </a:cubicBezTo>
                  <a:cubicBezTo>
                    <a:pt x="3916928" y="14993"/>
                    <a:pt x="3920216" y="22931"/>
                    <a:pt x="3920216" y="31208"/>
                  </a:cubicBezTo>
                  <a:lnTo>
                    <a:pt x="3920216" y="189937"/>
                  </a:lnTo>
                  <a:cubicBezTo>
                    <a:pt x="3920216" y="198214"/>
                    <a:pt x="3916928" y="206152"/>
                    <a:pt x="3911075" y="212004"/>
                  </a:cubicBezTo>
                  <a:cubicBezTo>
                    <a:pt x="3905222" y="217857"/>
                    <a:pt x="3897285" y="221145"/>
                    <a:pt x="3889008" y="221145"/>
                  </a:cubicBezTo>
                  <a:lnTo>
                    <a:pt x="31208" y="221145"/>
                  </a:lnTo>
                  <a:cubicBezTo>
                    <a:pt x="22931" y="221145"/>
                    <a:pt x="14993" y="217857"/>
                    <a:pt x="9141" y="212004"/>
                  </a:cubicBezTo>
                  <a:cubicBezTo>
                    <a:pt x="3288" y="206152"/>
                    <a:pt x="0" y="198214"/>
                    <a:pt x="0" y="189937"/>
                  </a:cubicBezTo>
                  <a:lnTo>
                    <a:pt x="0" y="31208"/>
                  </a:lnTo>
                  <a:cubicBezTo>
                    <a:pt x="0" y="22931"/>
                    <a:pt x="3288" y="14993"/>
                    <a:pt x="9141" y="9141"/>
                  </a:cubicBezTo>
                  <a:cubicBezTo>
                    <a:pt x="14993" y="3288"/>
                    <a:pt x="22931" y="0"/>
                    <a:pt x="31208" y="0"/>
                  </a:cubicBezTo>
                  <a:close/>
                </a:path>
              </a:pathLst>
            </a:custGeom>
            <a:solidFill>
              <a:srgbClr val="000000"/>
            </a:solidFill>
            <a:ln w="38100" cap="rnd">
              <a:solidFill>
                <a:srgbClr val="FFD944"/>
              </a:solidFill>
              <a:prstDash val="solid"/>
              <a:round/>
            </a:ln>
          </p:spPr>
        </p:sp>
        <p:sp>
          <p:nvSpPr>
            <p:cNvPr name="TextBox 6" id="6"/>
            <p:cNvSpPr txBox="true"/>
            <p:nvPr/>
          </p:nvSpPr>
          <p:spPr>
            <a:xfrm>
              <a:off x="0" y="-38100"/>
              <a:ext cx="3920216" cy="25924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048244" y="626973"/>
            <a:ext cx="446341" cy="457200"/>
          </a:xfrm>
          <a:custGeom>
            <a:avLst/>
            <a:gdLst/>
            <a:ahLst/>
            <a:cxnLst/>
            <a:rect r="r" b="b" t="t" l="l"/>
            <a:pathLst>
              <a:path h="457200" w="446341">
                <a:moveTo>
                  <a:pt x="0" y="0"/>
                </a:moveTo>
                <a:lnTo>
                  <a:pt x="446341" y="0"/>
                </a:lnTo>
                <a:lnTo>
                  <a:pt x="446341" y="457200"/>
                </a:lnTo>
                <a:lnTo>
                  <a:pt x="0" y="457200"/>
                </a:lnTo>
                <a:lnTo>
                  <a:pt x="0" y="0"/>
                </a:lnTo>
                <a:close/>
              </a:path>
            </a:pathLst>
          </a:custGeom>
          <a:blipFill>
            <a:blip r:embed="rId3"/>
            <a:stretch>
              <a:fillRect l="0" t="0" r="0" b="0"/>
            </a:stretch>
          </a:blipFill>
        </p:spPr>
      </p:sp>
      <p:sp>
        <p:nvSpPr>
          <p:cNvPr name="Freeform 8" id="8"/>
          <p:cNvSpPr/>
          <p:nvPr/>
        </p:nvSpPr>
        <p:spPr>
          <a:xfrm flipH="false" flipV="false" rot="0">
            <a:off x="2048244" y="2177152"/>
            <a:ext cx="13404231" cy="5314231"/>
          </a:xfrm>
          <a:custGeom>
            <a:avLst/>
            <a:gdLst/>
            <a:ahLst/>
            <a:cxnLst/>
            <a:rect r="r" b="b" t="t" l="l"/>
            <a:pathLst>
              <a:path h="5314231" w="13404231">
                <a:moveTo>
                  <a:pt x="0" y="0"/>
                </a:moveTo>
                <a:lnTo>
                  <a:pt x="13404230" y="0"/>
                </a:lnTo>
                <a:lnTo>
                  <a:pt x="13404230" y="5314231"/>
                </a:lnTo>
                <a:lnTo>
                  <a:pt x="0" y="5314231"/>
                </a:lnTo>
                <a:lnTo>
                  <a:pt x="0" y="0"/>
                </a:lnTo>
                <a:close/>
              </a:path>
            </a:pathLst>
          </a:custGeom>
          <a:blipFill>
            <a:blip r:embed="rId4"/>
            <a:stretch>
              <a:fillRect l="0" t="0" r="0" b="0"/>
            </a:stretch>
          </a:blipFill>
        </p:spPr>
      </p:sp>
      <p:sp>
        <p:nvSpPr>
          <p:cNvPr name="TextBox 9" id="9"/>
          <p:cNvSpPr txBox="true"/>
          <p:nvPr/>
        </p:nvSpPr>
        <p:spPr>
          <a:xfrm rot="0">
            <a:off x="3058457" y="652373"/>
            <a:ext cx="13089220"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SEND REPORT TO ADMIN (WATCHMAN PAGE)</a:t>
            </a:r>
          </a:p>
        </p:txBody>
      </p:sp>
      <p:sp>
        <p:nvSpPr>
          <p:cNvPr name="TextBox 10" id="10"/>
          <p:cNvSpPr txBox="true"/>
          <p:nvPr/>
        </p:nvSpPr>
        <p:spPr>
          <a:xfrm rot="0">
            <a:off x="14510574" y="9191625"/>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229290" y="1775760"/>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Freeform 3" id="3"/>
          <p:cNvSpPr/>
          <p:nvPr/>
        </p:nvSpPr>
        <p:spPr>
          <a:xfrm flipH="false" flipV="false" rot="0">
            <a:off x="-11250586" y="-3933278"/>
            <a:ext cx="13745171" cy="10034901"/>
          </a:xfrm>
          <a:custGeom>
            <a:avLst/>
            <a:gdLst/>
            <a:ahLst/>
            <a:cxnLst/>
            <a:rect r="r" b="b" t="t" l="l"/>
            <a:pathLst>
              <a:path h="10034901" w="13745171">
                <a:moveTo>
                  <a:pt x="0" y="0"/>
                </a:moveTo>
                <a:lnTo>
                  <a:pt x="13745171" y="0"/>
                </a:lnTo>
                <a:lnTo>
                  <a:pt x="13745171" y="10034902"/>
                </a:lnTo>
                <a:lnTo>
                  <a:pt x="0" y="10034902"/>
                </a:lnTo>
                <a:lnTo>
                  <a:pt x="0" y="0"/>
                </a:lnTo>
                <a:close/>
              </a:path>
            </a:pathLst>
          </a:custGeom>
          <a:blipFill>
            <a:blip r:embed="rId2"/>
            <a:stretch>
              <a:fillRect l="-523" t="0" r="-523" b="0"/>
            </a:stretch>
          </a:blipFill>
        </p:spPr>
      </p:sp>
      <p:grpSp>
        <p:nvGrpSpPr>
          <p:cNvPr name="Group 4" id="4"/>
          <p:cNvGrpSpPr/>
          <p:nvPr/>
        </p:nvGrpSpPr>
        <p:grpSpPr>
          <a:xfrm rot="0">
            <a:off x="1593050" y="435743"/>
            <a:ext cx="14884568" cy="839660"/>
            <a:chOff x="0" y="0"/>
            <a:chExt cx="3920216" cy="221145"/>
          </a:xfrm>
        </p:grpSpPr>
        <p:sp>
          <p:nvSpPr>
            <p:cNvPr name="Freeform 5" id="5"/>
            <p:cNvSpPr/>
            <p:nvPr/>
          </p:nvSpPr>
          <p:spPr>
            <a:xfrm flipH="false" flipV="false" rot="0">
              <a:off x="0" y="0"/>
              <a:ext cx="3920216" cy="221145"/>
            </a:xfrm>
            <a:custGeom>
              <a:avLst/>
              <a:gdLst/>
              <a:ahLst/>
              <a:cxnLst/>
              <a:rect r="r" b="b" t="t" l="l"/>
              <a:pathLst>
                <a:path h="221145" w="3920216">
                  <a:moveTo>
                    <a:pt x="31208" y="0"/>
                  </a:moveTo>
                  <a:lnTo>
                    <a:pt x="3889008" y="0"/>
                  </a:lnTo>
                  <a:cubicBezTo>
                    <a:pt x="3897285" y="0"/>
                    <a:pt x="3905222" y="3288"/>
                    <a:pt x="3911075" y="9141"/>
                  </a:cubicBezTo>
                  <a:cubicBezTo>
                    <a:pt x="3916928" y="14993"/>
                    <a:pt x="3920216" y="22931"/>
                    <a:pt x="3920216" y="31208"/>
                  </a:cubicBezTo>
                  <a:lnTo>
                    <a:pt x="3920216" y="189937"/>
                  </a:lnTo>
                  <a:cubicBezTo>
                    <a:pt x="3920216" y="198214"/>
                    <a:pt x="3916928" y="206152"/>
                    <a:pt x="3911075" y="212004"/>
                  </a:cubicBezTo>
                  <a:cubicBezTo>
                    <a:pt x="3905222" y="217857"/>
                    <a:pt x="3897285" y="221145"/>
                    <a:pt x="3889008" y="221145"/>
                  </a:cubicBezTo>
                  <a:lnTo>
                    <a:pt x="31208" y="221145"/>
                  </a:lnTo>
                  <a:cubicBezTo>
                    <a:pt x="22931" y="221145"/>
                    <a:pt x="14993" y="217857"/>
                    <a:pt x="9141" y="212004"/>
                  </a:cubicBezTo>
                  <a:cubicBezTo>
                    <a:pt x="3288" y="206152"/>
                    <a:pt x="0" y="198214"/>
                    <a:pt x="0" y="189937"/>
                  </a:cubicBezTo>
                  <a:lnTo>
                    <a:pt x="0" y="31208"/>
                  </a:lnTo>
                  <a:cubicBezTo>
                    <a:pt x="0" y="22931"/>
                    <a:pt x="3288" y="14993"/>
                    <a:pt x="9141" y="9141"/>
                  </a:cubicBezTo>
                  <a:cubicBezTo>
                    <a:pt x="14993" y="3288"/>
                    <a:pt x="22931" y="0"/>
                    <a:pt x="31208" y="0"/>
                  </a:cubicBezTo>
                  <a:close/>
                </a:path>
              </a:pathLst>
            </a:custGeom>
            <a:solidFill>
              <a:srgbClr val="000000"/>
            </a:solidFill>
            <a:ln w="38100" cap="rnd">
              <a:solidFill>
                <a:srgbClr val="FFD944"/>
              </a:solidFill>
              <a:prstDash val="solid"/>
              <a:round/>
            </a:ln>
          </p:spPr>
        </p:sp>
        <p:sp>
          <p:nvSpPr>
            <p:cNvPr name="TextBox 6" id="6"/>
            <p:cNvSpPr txBox="true"/>
            <p:nvPr/>
          </p:nvSpPr>
          <p:spPr>
            <a:xfrm>
              <a:off x="0" y="-38100"/>
              <a:ext cx="3920216" cy="25924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048244" y="626973"/>
            <a:ext cx="446341" cy="457200"/>
          </a:xfrm>
          <a:custGeom>
            <a:avLst/>
            <a:gdLst/>
            <a:ahLst/>
            <a:cxnLst/>
            <a:rect r="r" b="b" t="t" l="l"/>
            <a:pathLst>
              <a:path h="457200" w="446341">
                <a:moveTo>
                  <a:pt x="0" y="0"/>
                </a:moveTo>
                <a:lnTo>
                  <a:pt x="446341" y="0"/>
                </a:lnTo>
                <a:lnTo>
                  <a:pt x="446341" y="457200"/>
                </a:lnTo>
                <a:lnTo>
                  <a:pt x="0" y="457200"/>
                </a:lnTo>
                <a:lnTo>
                  <a:pt x="0" y="0"/>
                </a:lnTo>
                <a:close/>
              </a:path>
            </a:pathLst>
          </a:custGeom>
          <a:blipFill>
            <a:blip r:embed="rId3"/>
            <a:stretch>
              <a:fillRect l="0" t="0" r="0" b="0"/>
            </a:stretch>
          </a:blipFill>
        </p:spPr>
      </p:sp>
      <p:sp>
        <p:nvSpPr>
          <p:cNvPr name="Freeform 8" id="8"/>
          <p:cNvSpPr/>
          <p:nvPr/>
        </p:nvSpPr>
        <p:spPr>
          <a:xfrm flipH="false" flipV="false" rot="0">
            <a:off x="2446381" y="1904813"/>
            <a:ext cx="13395238" cy="6477374"/>
          </a:xfrm>
          <a:custGeom>
            <a:avLst/>
            <a:gdLst/>
            <a:ahLst/>
            <a:cxnLst/>
            <a:rect r="r" b="b" t="t" l="l"/>
            <a:pathLst>
              <a:path h="6477374" w="13395238">
                <a:moveTo>
                  <a:pt x="0" y="0"/>
                </a:moveTo>
                <a:lnTo>
                  <a:pt x="13395238" y="0"/>
                </a:lnTo>
                <a:lnTo>
                  <a:pt x="13395238" y="6477374"/>
                </a:lnTo>
                <a:lnTo>
                  <a:pt x="0" y="6477374"/>
                </a:lnTo>
                <a:lnTo>
                  <a:pt x="0" y="0"/>
                </a:lnTo>
                <a:close/>
              </a:path>
            </a:pathLst>
          </a:custGeom>
          <a:blipFill>
            <a:blip r:embed="rId4"/>
            <a:stretch>
              <a:fillRect l="0" t="0" r="0" b="0"/>
            </a:stretch>
          </a:blipFill>
        </p:spPr>
      </p:sp>
      <p:sp>
        <p:nvSpPr>
          <p:cNvPr name="TextBox 9" id="9"/>
          <p:cNvSpPr txBox="true"/>
          <p:nvPr/>
        </p:nvSpPr>
        <p:spPr>
          <a:xfrm rot="0">
            <a:off x="3058457" y="652373"/>
            <a:ext cx="13089220"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FETCH STUDENTS APPROVED FROM WATCHMAN (ADMIN PAGE)</a:t>
            </a:r>
          </a:p>
        </p:txBody>
      </p:sp>
      <p:sp>
        <p:nvSpPr>
          <p:cNvPr name="TextBox 10" id="10"/>
          <p:cNvSpPr txBox="true"/>
          <p:nvPr/>
        </p:nvSpPr>
        <p:spPr>
          <a:xfrm rot="0">
            <a:off x="14518665" y="9191625"/>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229290" y="1775760"/>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Freeform 3" id="3"/>
          <p:cNvSpPr/>
          <p:nvPr/>
        </p:nvSpPr>
        <p:spPr>
          <a:xfrm flipH="false" flipV="false" rot="0">
            <a:off x="-11250586" y="-3933278"/>
            <a:ext cx="13745171" cy="10034901"/>
          </a:xfrm>
          <a:custGeom>
            <a:avLst/>
            <a:gdLst/>
            <a:ahLst/>
            <a:cxnLst/>
            <a:rect r="r" b="b" t="t" l="l"/>
            <a:pathLst>
              <a:path h="10034901" w="13745171">
                <a:moveTo>
                  <a:pt x="0" y="0"/>
                </a:moveTo>
                <a:lnTo>
                  <a:pt x="13745171" y="0"/>
                </a:lnTo>
                <a:lnTo>
                  <a:pt x="13745171" y="10034902"/>
                </a:lnTo>
                <a:lnTo>
                  <a:pt x="0" y="10034902"/>
                </a:lnTo>
                <a:lnTo>
                  <a:pt x="0" y="0"/>
                </a:lnTo>
                <a:close/>
              </a:path>
            </a:pathLst>
          </a:custGeom>
          <a:blipFill>
            <a:blip r:embed="rId2"/>
            <a:stretch>
              <a:fillRect l="-523" t="0" r="-523" b="0"/>
            </a:stretch>
          </a:blipFill>
        </p:spPr>
      </p:sp>
      <p:grpSp>
        <p:nvGrpSpPr>
          <p:cNvPr name="Group 4" id="4"/>
          <p:cNvGrpSpPr/>
          <p:nvPr/>
        </p:nvGrpSpPr>
        <p:grpSpPr>
          <a:xfrm rot="0">
            <a:off x="1593050" y="435743"/>
            <a:ext cx="14884568" cy="839660"/>
            <a:chOff x="0" y="0"/>
            <a:chExt cx="3920216" cy="221145"/>
          </a:xfrm>
        </p:grpSpPr>
        <p:sp>
          <p:nvSpPr>
            <p:cNvPr name="Freeform 5" id="5"/>
            <p:cNvSpPr/>
            <p:nvPr/>
          </p:nvSpPr>
          <p:spPr>
            <a:xfrm flipH="false" flipV="false" rot="0">
              <a:off x="0" y="0"/>
              <a:ext cx="3920216" cy="221145"/>
            </a:xfrm>
            <a:custGeom>
              <a:avLst/>
              <a:gdLst/>
              <a:ahLst/>
              <a:cxnLst/>
              <a:rect r="r" b="b" t="t" l="l"/>
              <a:pathLst>
                <a:path h="221145" w="3920216">
                  <a:moveTo>
                    <a:pt x="31208" y="0"/>
                  </a:moveTo>
                  <a:lnTo>
                    <a:pt x="3889008" y="0"/>
                  </a:lnTo>
                  <a:cubicBezTo>
                    <a:pt x="3897285" y="0"/>
                    <a:pt x="3905222" y="3288"/>
                    <a:pt x="3911075" y="9141"/>
                  </a:cubicBezTo>
                  <a:cubicBezTo>
                    <a:pt x="3916928" y="14993"/>
                    <a:pt x="3920216" y="22931"/>
                    <a:pt x="3920216" y="31208"/>
                  </a:cubicBezTo>
                  <a:lnTo>
                    <a:pt x="3920216" y="189937"/>
                  </a:lnTo>
                  <a:cubicBezTo>
                    <a:pt x="3920216" y="198214"/>
                    <a:pt x="3916928" y="206152"/>
                    <a:pt x="3911075" y="212004"/>
                  </a:cubicBezTo>
                  <a:cubicBezTo>
                    <a:pt x="3905222" y="217857"/>
                    <a:pt x="3897285" y="221145"/>
                    <a:pt x="3889008" y="221145"/>
                  </a:cubicBezTo>
                  <a:lnTo>
                    <a:pt x="31208" y="221145"/>
                  </a:lnTo>
                  <a:cubicBezTo>
                    <a:pt x="22931" y="221145"/>
                    <a:pt x="14993" y="217857"/>
                    <a:pt x="9141" y="212004"/>
                  </a:cubicBezTo>
                  <a:cubicBezTo>
                    <a:pt x="3288" y="206152"/>
                    <a:pt x="0" y="198214"/>
                    <a:pt x="0" y="189937"/>
                  </a:cubicBezTo>
                  <a:lnTo>
                    <a:pt x="0" y="31208"/>
                  </a:lnTo>
                  <a:cubicBezTo>
                    <a:pt x="0" y="22931"/>
                    <a:pt x="3288" y="14993"/>
                    <a:pt x="9141" y="9141"/>
                  </a:cubicBezTo>
                  <a:cubicBezTo>
                    <a:pt x="14993" y="3288"/>
                    <a:pt x="22931" y="0"/>
                    <a:pt x="31208" y="0"/>
                  </a:cubicBezTo>
                  <a:close/>
                </a:path>
              </a:pathLst>
            </a:custGeom>
            <a:solidFill>
              <a:srgbClr val="000000"/>
            </a:solidFill>
            <a:ln w="38100" cap="rnd">
              <a:solidFill>
                <a:srgbClr val="FFD944"/>
              </a:solidFill>
              <a:prstDash val="solid"/>
              <a:round/>
            </a:ln>
          </p:spPr>
        </p:sp>
        <p:sp>
          <p:nvSpPr>
            <p:cNvPr name="TextBox 6" id="6"/>
            <p:cNvSpPr txBox="true"/>
            <p:nvPr/>
          </p:nvSpPr>
          <p:spPr>
            <a:xfrm>
              <a:off x="0" y="-38100"/>
              <a:ext cx="3920216" cy="25924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048244" y="626973"/>
            <a:ext cx="446341" cy="457200"/>
          </a:xfrm>
          <a:custGeom>
            <a:avLst/>
            <a:gdLst/>
            <a:ahLst/>
            <a:cxnLst/>
            <a:rect r="r" b="b" t="t" l="l"/>
            <a:pathLst>
              <a:path h="457200" w="446341">
                <a:moveTo>
                  <a:pt x="0" y="0"/>
                </a:moveTo>
                <a:lnTo>
                  <a:pt x="446341" y="0"/>
                </a:lnTo>
                <a:lnTo>
                  <a:pt x="446341" y="457200"/>
                </a:lnTo>
                <a:lnTo>
                  <a:pt x="0" y="457200"/>
                </a:lnTo>
                <a:lnTo>
                  <a:pt x="0" y="0"/>
                </a:lnTo>
                <a:close/>
              </a:path>
            </a:pathLst>
          </a:custGeom>
          <a:blipFill>
            <a:blip r:embed="rId3"/>
            <a:stretch>
              <a:fillRect l="0" t="0" r="0" b="0"/>
            </a:stretch>
          </a:blipFill>
        </p:spPr>
      </p:sp>
      <p:sp>
        <p:nvSpPr>
          <p:cNvPr name="Freeform 8" id="8"/>
          <p:cNvSpPr/>
          <p:nvPr/>
        </p:nvSpPr>
        <p:spPr>
          <a:xfrm flipH="false" flipV="false" rot="0">
            <a:off x="2191104" y="2297348"/>
            <a:ext cx="13688459" cy="5692304"/>
          </a:xfrm>
          <a:custGeom>
            <a:avLst/>
            <a:gdLst/>
            <a:ahLst/>
            <a:cxnLst/>
            <a:rect r="r" b="b" t="t" l="l"/>
            <a:pathLst>
              <a:path h="5692304" w="13688459">
                <a:moveTo>
                  <a:pt x="0" y="0"/>
                </a:moveTo>
                <a:lnTo>
                  <a:pt x="13688459" y="0"/>
                </a:lnTo>
                <a:lnTo>
                  <a:pt x="13688459" y="5692304"/>
                </a:lnTo>
                <a:lnTo>
                  <a:pt x="0" y="5692304"/>
                </a:lnTo>
                <a:lnTo>
                  <a:pt x="0" y="0"/>
                </a:lnTo>
                <a:close/>
              </a:path>
            </a:pathLst>
          </a:custGeom>
          <a:blipFill>
            <a:blip r:embed="rId4"/>
            <a:stretch>
              <a:fillRect l="0" t="0" r="0" b="0"/>
            </a:stretch>
          </a:blipFill>
        </p:spPr>
      </p:sp>
      <p:sp>
        <p:nvSpPr>
          <p:cNvPr name="TextBox 9" id="9"/>
          <p:cNvSpPr txBox="true"/>
          <p:nvPr/>
        </p:nvSpPr>
        <p:spPr>
          <a:xfrm rot="0">
            <a:off x="3058457" y="652373"/>
            <a:ext cx="13089220"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FETCH VISISTORS FROM WATCHMAN (ADMIN PAGE)</a:t>
            </a:r>
          </a:p>
        </p:txBody>
      </p:sp>
      <p:sp>
        <p:nvSpPr>
          <p:cNvPr name="TextBox 10" id="10"/>
          <p:cNvSpPr txBox="true"/>
          <p:nvPr/>
        </p:nvSpPr>
        <p:spPr>
          <a:xfrm rot="0">
            <a:off x="14547373" y="9191625"/>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2967116">
            <a:off x="1991082" y="2201864"/>
            <a:ext cx="12892802" cy="9575242"/>
          </a:xfrm>
          <a:custGeom>
            <a:avLst/>
            <a:gdLst/>
            <a:ahLst/>
            <a:cxnLst/>
            <a:rect r="r" b="b" t="t" l="l"/>
            <a:pathLst>
              <a:path h="9575242" w="12892802">
                <a:moveTo>
                  <a:pt x="0" y="0"/>
                </a:moveTo>
                <a:lnTo>
                  <a:pt x="12892802" y="0"/>
                </a:lnTo>
                <a:lnTo>
                  <a:pt x="12892802" y="9575242"/>
                </a:lnTo>
                <a:lnTo>
                  <a:pt x="0" y="9575242"/>
                </a:lnTo>
                <a:lnTo>
                  <a:pt x="0" y="0"/>
                </a:lnTo>
                <a:close/>
              </a:path>
            </a:pathLst>
          </a:custGeom>
          <a:blipFill>
            <a:blip r:embed="rId2"/>
            <a:stretch>
              <a:fillRect l="0" t="0" r="-2793" b="0"/>
            </a:stretch>
          </a:blipFill>
        </p:spPr>
      </p:sp>
      <p:sp>
        <p:nvSpPr>
          <p:cNvPr name="Freeform 3" id="3"/>
          <p:cNvSpPr/>
          <p:nvPr/>
        </p:nvSpPr>
        <p:spPr>
          <a:xfrm flipH="false" flipV="false" rot="0">
            <a:off x="11656772" y="0"/>
            <a:ext cx="8225203" cy="10287000"/>
          </a:xfrm>
          <a:custGeom>
            <a:avLst/>
            <a:gdLst/>
            <a:ahLst/>
            <a:cxnLst/>
            <a:rect r="r" b="b" t="t" l="l"/>
            <a:pathLst>
              <a:path h="10287000" w="8225203">
                <a:moveTo>
                  <a:pt x="0" y="0"/>
                </a:moveTo>
                <a:lnTo>
                  <a:pt x="8225202" y="0"/>
                </a:lnTo>
                <a:lnTo>
                  <a:pt x="8225202" y="10287000"/>
                </a:lnTo>
                <a:lnTo>
                  <a:pt x="0" y="10287000"/>
                </a:lnTo>
                <a:lnTo>
                  <a:pt x="0" y="0"/>
                </a:lnTo>
                <a:close/>
              </a:path>
            </a:pathLst>
          </a:custGeom>
          <a:blipFill>
            <a:blip r:embed="rId3"/>
            <a:stretch>
              <a:fillRect l="-89745" t="0" r="-33412" b="0"/>
            </a:stretch>
          </a:blipFill>
        </p:spPr>
      </p:sp>
      <p:grpSp>
        <p:nvGrpSpPr>
          <p:cNvPr name="Group 4" id="4"/>
          <p:cNvGrpSpPr/>
          <p:nvPr/>
        </p:nvGrpSpPr>
        <p:grpSpPr>
          <a:xfrm rot="0">
            <a:off x="837922" y="2027224"/>
            <a:ext cx="10818850" cy="6232551"/>
            <a:chOff x="0" y="0"/>
            <a:chExt cx="2849409" cy="1641495"/>
          </a:xfrm>
        </p:grpSpPr>
        <p:sp>
          <p:nvSpPr>
            <p:cNvPr name="Freeform 5" id="5"/>
            <p:cNvSpPr/>
            <p:nvPr/>
          </p:nvSpPr>
          <p:spPr>
            <a:xfrm flipH="false" flipV="false" rot="0">
              <a:off x="0" y="0"/>
              <a:ext cx="2849409" cy="1641495"/>
            </a:xfrm>
            <a:custGeom>
              <a:avLst/>
              <a:gdLst/>
              <a:ahLst/>
              <a:cxnLst/>
              <a:rect r="r" b="b" t="t" l="l"/>
              <a:pathLst>
                <a:path h="1641495" w="2849409">
                  <a:moveTo>
                    <a:pt x="14312" y="0"/>
                  </a:moveTo>
                  <a:lnTo>
                    <a:pt x="2835097" y="0"/>
                  </a:lnTo>
                  <a:cubicBezTo>
                    <a:pt x="2843001" y="0"/>
                    <a:pt x="2849409" y="6408"/>
                    <a:pt x="2849409" y="14312"/>
                  </a:cubicBezTo>
                  <a:lnTo>
                    <a:pt x="2849409" y="1627183"/>
                  </a:lnTo>
                  <a:cubicBezTo>
                    <a:pt x="2849409" y="1635087"/>
                    <a:pt x="2843001" y="1641495"/>
                    <a:pt x="2835097" y="1641495"/>
                  </a:cubicBezTo>
                  <a:lnTo>
                    <a:pt x="14312" y="1641495"/>
                  </a:lnTo>
                  <a:cubicBezTo>
                    <a:pt x="6408" y="1641495"/>
                    <a:pt x="0" y="1635087"/>
                    <a:pt x="0" y="1627183"/>
                  </a:cubicBezTo>
                  <a:lnTo>
                    <a:pt x="0" y="14312"/>
                  </a:lnTo>
                  <a:cubicBezTo>
                    <a:pt x="0" y="6408"/>
                    <a:pt x="6408" y="0"/>
                    <a:pt x="14312" y="0"/>
                  </a:cubicBezTo>
                  <a:close/>
                </a:path>
              </a:pathLst>
            </a:custGeom>
            <a:solidFill>
              <a:srgbClr val="000000"/>
            </a:solidFill>
            <a:ln w="38100" cap="sq">
              <a:solidFill>
                <a:srgbClr val="E5E1DA"/>
              </a:solidFill>
              <a:prstDash val="solid"/>
              <a:miter/>
            </a:ln>
          </p:spPr>
        </p:sp>
        <p:sp>
          <p:nvSpPr>
            <p:cNvPr name="TextBox 6" id="6"/>
            <p:cNvSpPr txBox="true"/>
            <p:nvPr/>
          </p:nvSpPr>
          <p:spPr>
            <a:xfrm>
              <a:off x="0" y="-38100"/>
              <a:ext cx="2849409" cy="167959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6989496">
            <a:off x="-6555668" y="-1436273"/>
            <a:ext cx="11026567" cy="7966695"/>
          </a:xfrm>
          <a:custGeom>
            <a:avLst/>
            <a:gdLst/>
            <a:ahLst/>
            <a:cxnLst/>
            <a:rect r="r" b="b" t="t" l="l"/>
            <a:pathLst>
              <a:path h="7966695" w="11026567">
                <a:moveTo>
                  <a:pt x="0" y="0"/>
                </a:moveTo>
                <a:lnTo>
                  <a:pt x="11026567" y="0"/>
                </a:lnTo>
                <a:lnTo>
                  <a:pt x="11026567" y="7966694"/>
                </a:lnTo>
                <a:lnTo>
                  <a:pt x="0" y="7966694"/>
                </a:lnTo>
                <a:lnTo>
                  <a:pt x="0" y="0"/>
                </a:lnTo>
                <a:close/>
              </a:path>
            </a:pathLst>
          </a:custGeom>
          <a:blipFill>
            <a:blip r:embed="rId2"/>
            <a:stretch>
              <a:fillRect l="0" t="0" r="0" b="0"/>
            </a:stretch>
          </a:blipFill>
        </p:spPr>
      </p:sp>
      <p:grpSp>
        <p:nvGrpSpPr>
          <p:cNvPr name="Group 8" id="8"/>
          <p:cNvGrpSpPr/>
          <p:nvPr/>
        </p:nvGrpSpPr>
        <p:grpSpPr>
          <a:xfrm rot="0">
            <a:off x="2527765" y="443004"/>
            <a:ext cx="10783187" cy="839660"/>
            <a:chOff x="0" y="0"/>
            <a:chExt cx="2840016" cy="221145"/>
          </a:xfrm>
        </p:grpSpPr>
        <p:sp>
          <p:nvSpPr>
            <p:cNvPr name="Freeform 9" id="9"/>
            <p:cNvSpPr/>
            <p:nvPr/>
          </p:nvSpPr>
          <p:spPr>
            <a:xfrm flipH="false" flipV="false" rot="0">
              <a:off x="0" y="0"/>
              <a:ext cx="2840016" cy="221145"/>
            </a:xfrm>
            <a:custGeom>
              <a:avLst/>
              <a:gdLst/>
              <a:ahLst/>
              <a:cxnLst/>
              <a:rect r="r" b="b" t="t" l="l"/>
              <a:pathLst>
                <a:path h="221145" w="2840016">
                  <a:moveTo>
                    <a:pt x="43078" y="0"/>
                  </a:moveTo>
                  <a:lnTo>
                    <a:pt x="2796939" y="0"/>
                  </a:lnTo>
                  <a:cubicBezTo>
                    <a:pt x="2808364" y="0"/>
                    <a:pt x="2819321" y="4539"/>
                    <a:pt x="2827399" y="12617"/>
                  </a:cubicBezTo>
                  <a:cubicBezTo>
                    <a:pt x="2835478" y="20696"/>
                    <a:pt x="2840016" y="31653"/>
                    <a:pt x="2840016" y="43078"/>
                  </a:cubicBezTo>
                  <a:lnTo>
                    <a:pt x="2840016" y="178067"/>
                  </a:lnTo>
                  <a:cubicBezTo>
                    <a:pt x="2840016" y="189492"/>
                    <a:pt x="2835478" y="200449"/>
                    <a:pt x="2827399" y="208528"/>
                  </a:cubicBezTo>
                  <a:cubicBezTo>
                    <a:pt x="2819321" y="216606"/>
                    <a:pt x="2808364" y="221145"/>
                    <a:pt x="2796939" y="221145"/>
                  </a:cubicBezTo>
                  <a:lnTo>
                    <a:pt x="43078" y="221145"/>
                  </a:lnTo>
                  <a:cubicBezTo>
                    <a:pt x="31653" y="221145"/>
                    <a:pt x="20696" y="216606"/>
                    <a:pt x="12617" y="208528"/>
                  </a:cubicBezTo>
                  <a:cubicBezTo>
                    <a:pt x="4539" y="200449"/>
                    <a:pt x="0" y="189492"/>
                    <a:pt x="0" y="178067"/>
                  </a:cubicBezTo>
                  <a:lnTo>
                    <a:pt x="0" y="43078"/>
                  </a:lnTo>
                  <a:cubicBezTo>
                    <a:pt x="0" y="31653"/>
                    <a:pt x="4539" y="20696"/>
                    <a:pt x="12617" y="12617"/>
                  </a:cubicBezTo>
                  <a:cubicBezTo>
                    <a:pt x="20696" y="4539"/>
                    <a:pt x="31653" y="0"/>
                    <a:pt x="43078" y="0"/>
                  </a:cubicBezTo>
                  <a:close/>
                </a:path>
              </a:pathLst>
            </a:custGeom>
            <a:solidFill>
              <a:srgbClr val="000000"/>
            </a:solidFill>
            <a:ln w="38100" cap="rnd">
              <a:solidFill>
                <a:srgbClr val="E5E1DA"/>
              </a:solidFill>
              <a:prstDash val="solid"/>
              <a:round/>
            </a:ln>
          </p:spPr>
        </p:sp>
        <p:sp>
          <p:nvSpPr>
            <p:cNvPr name="TextBox 10" id="10"/>
            <p:cNvSpPr txBox="true"/>
            <p:nvPr/>
          </p:nvSpPr>
          <p:spPr>
            <a:xfrm>
              <a:off x="0" y="-38100"/>
              <a:ext cx="2840016" cy="259245"/>
            </a:xfrm>
            <a:prstGeom prst="rect">
              <a:avLst/>
            </a:prstGeom>
          </p:spPr>
          <p:txBody>
            <a:bodyPr anchor="ctr" rtlCol="false" tIns="50800" lIns="50800" bIns="50800" rIns="50800"/>
            <a:lstStyle/>
            <a:p>
              <a:pPr algn="ctr">
                <a:lnSpc>
                  <a:spcPts val="2799"/>
                </a:lnSpc>
              </a:pPr>
            </a:p>
          </p:txBody>
        </p:sp>
      </p:grpSp>
      <p:sp>
        <p:nvSpPr>
          <p:cNvPr name="Freeform 11" id="11"/>
          <p:cNvSpPr/>
          <p:nvPr/>
        </p:nvSpPr>
        <p:spPr>
          <a:xfrm flipH="false" flipV="false" rot="0">
            <a:off x="2812893" y="642723"/>
            <a:ext cx="440221" cy="440221"/>
          </a:xfrm>
          <a:custGeom>
            <a:avLst/>
            <a:gdLst/>
            <a:ahLst/>
            <a:cxnLst/>
            <a:rect r="r" b="b" t="t" l="l"/>
            <a:pathLst>
              <a:path h="440221" w="440221">
                <a:moveTo>
                  <a:pt x="0" y="0"/>
                </a:moveTo>
                <a:lnTo>
                  <a:pt x="440221" y="0"/>
                </a:lnTo>
                <a:lnTo>
                  <a:pt x="440221" y="440221"/>
                </a:lnTo>
                <a:lnTo>
                  <a:pt x="0" y="4402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933723" y="3355758"/>
            <a:ext cx="13351337" cy="564660"/>
          </a:xfrm>
          <a:prstGeom prst="rect">
            <a:avLst/>
          </a:prstGeom>
        </p:spPr>
        <p:txBody>
          <a:bodyPr anchor="t" rtlCol="false" tIns="0" lIns="0" bIns="0" rIns="0">
            <a:spAutoFit/>
          </a:bodyPr>
          <a:lstStyle/>
          <a:p>
            <a:pPr algn="l">
              <a:lnSpc>
                <a:spcPts val="4617"/>
              </a:lnSpc>
              <a:spcBef>
                <a:spcPct val="0"/>
              </a:spcBef>
            </a:pPr>
            <a:r>
              <a:rPr lang="en-US" sz="3298">
                <a:solidFill>
                  <a:srgbClr val="E5E1DA"/>
                </a:solidFill>
                <a:latin typeface="Lato"/>
                <a:ea typeface="Lato"/>
                <a:cs typeface="Lato"/>
                <a:sym typeface="Lato"/>
              </a:rPr>
              <a:t>&gt;&gt;</a:t>
            </a:r>
            <a:r>
              <a:rPr lang="en-US" b="true" sz="3298">
                <a:solidFill>
                  <a:srgbClr val="E5E1DA"/>
                </a:solidFill>
                <a:latin typeface="Lato Bold"/>
                <a:ea typeface="Lato Bold"/>
                <a:cs typeface="Lato Bold"/>
                <a:sym typeface="Lato Bold"/>
              </a:rPr>
              <a:t>FrontEnd : React.js</a:t>
            </a:r>
          </a:p>
        </p:txBody>
      </p:sp>
      <p:sp>
        <p:nvSpPr>
          <p:cNvPr name="TextBox 13" id="13"/>
          <p:cNvSpPr txBox="true"/>
          <p:nvPr/>
        </p:nvSpPr>
        <p:spPr>
          <a:xfrm rot="0">
            <a:off x="1863352" y="4507440"/>
            <a:ext cx="14081225" cy="1205444"/>
          </a:xfrm>
          <a:prstGeom prst="rect">
            <a:avLst/>
          </a:prstGeom>
        </p:spPr>
        <p:txBody>
          <a:bodyPr anchor="t" rtlCol="false" tIns="0" lIns="0" bIns="0" rIns="0">
            <a:spAutoFit/>
          </a:bodyPr>
          <a:lstStyle/>
          <a:p>
            <a:pPr algn="l">
              <a:lnSpc>
                <a:spcPts val="4869"/>
              </a:lnSpc>
            </a:pPr>
            <a:r>
              <a:rPr lang="en-US" sz="3478" spc="173">
                <a:solidFill>
                  <a:srgbClr val="E5E1DA"/>
                </a:solidFill>
                <a:latin typeface="Lato"/>
                <a:ea typeface="Lato"/>
                <a:cs typeface="Lato"/>
                <a:sym typeface="Lato"/>
              </a:rPr>
              <a:t>&gt;&gt;Backend : Express.js , Node.js</a:t>
            </a:r>
          </a:p>
          <a:p>
            <a:pPr algn="l">
              <a:lnSpc>
                <a:spcPts val="4869"/>
              </a:lnSpc>
              <a:spcBef>
                <a:spcPct val="0"/>
              </a:spcBef>
            </a:pPr>
          </a:p>
        </p:txBody>
      </p:sp>
      <p:sp>
        <p:nvSpPr>
          <p:cNvPr name="TextBox 14" id="14"/>
          <p:cNvSpPr txBox="true"/>
          <p:nvPr/>
        </p:nvSpPr>
        <p:spPr>
          <a:xfrm rot="0">
            <a:off x="1863352" y="5514975"/>
            <a:ext cx="13148263" cy="1129994"/>
          </a:xfrm>
          <a:prstGeom prst="rect">
            <a:avLst/>
          </a:prstGeom>
        </p:spPr>
        <p:txBody>
          <a:bodyPr anchor="t" rtlCol="false" tIns="0" lIns="0" bIns="0" rIns="0">
            <a:spAutoFit/>
          </a:bodyPr>
          <a:lstStyle/>
          <a:p>
            <a:pPr algn="l">
              <a:lnSpc>
                <a:spcPts val="4547"/>
              </a:lnSpc>
            </a:pPr>
            <a:r>
              <a:rPr lang="en-US" sz="3247" spc="162">
                <a:solidFill>
                  <a:srgbClr val="E5E1DA"/>
                </a:solidFill>
                <a:latin typeface="Lato"/>
                <a:ea typeface="Lato"/>
                <a:cs typeface="Lato"/>
                <a:sym typeface="Lato"/>
              </a:rPr>
              <a:t>&gt;&gt;DataBase : MongoDB</a:t>
            </a:r>
          </a:p>
          <a:p>
            <a:pPr algn="l">
              <a:lnSpc>
                <a:spcPts val="4547"/>
              </a:lnSpc>
              <a:spcBef>
                <a:spcPct val="0"/>
              </a:spcBef>
            </a:pPr>
          </a:p>
        </p:txBody>
      </p:sp>
      <p:sp>
        <p:nvSpPr>
          <p:cNvPr name="TextBox 15" id="15"/>
          <p:cNvSpPr txBox="true"/>
          <p:nvPr/>
        </p:nvSpPr>
        <p:spPr>
          <a:xfrm rot="0">
            <a:off x="3182743" y="520695"/>
            <a:ext cx="8252379" cy="693803"/>
          </a:xfrm>
          <a:prstGeom prst="rect">
            <a:avLst/>
          </a:prstGeom>
        </p:spPr>
        <p:txBody>
          <a:bodyPr anchor="t" rtlCol="false" tIns="0" lIns="0" bIns="0" rIns="0">
            <a:spAutoFit/>
          </a:bodyPr>
          <a:lstStyle/>
          <a:p>
            <a:pPr algn="ctr">
              <a:lnSpc>
                <a:spcPts val="5097"/>
              </a:lnSpc>
            </a:pPr>
            <a:r>
              <a:rPr lang="en-US" b="true" sz="4634">
                <a:solidFill>
                  <a:srgbClr val="FBF9F1"/>
                </a:solidFill>
                <a:latin typeface="Poppins Bold"/>
                <a:ea typeface="Poppins Bold"/>
                <a:cs typeface="Poppins Bold"/>
                <a:sym typeface="Poppins Bold"/>
              </a:rPr>
              <a:t>TOOLS AND TECHNOLOGIES</a:t>
            </a:r>
          </a:p>
        </p:txBody>
      </p:sp>
      <p:sp>
        <p:nvSpPr>
          <p:cNvPr name="TextBox 16" id="16"/>
          <p:cNvSpPr txBox="true"/>
          <p:nvPr/>
        </p:nvSpPr>
        <p:spPr>
          <a:xfrm rot="0">
            <a:off x="14357401" y="9323410"/>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2181579">
            <a:off x="11199066" y="124438"/>
            <a:ext cx="10128448" cy="10895890"/>
          </a:xfrm>
          <a:custGeom>
            <a:avLst/>
            <a:gdLst/>
            <a:ahLst/>
            <a:cxnLst/>
            <a:rect r="r" b="b" t="t" l="l"/>
            <a:pathLst>
              <a:path h="10895890" w="10128448">
                <a:moveTo>
                  <a:pt x="0" y="0"/>
                </a:moveTo>
                <a:lnTo>
                  <a:pt x="10128447" y="0"/>
                </a:lnTo>
                <a:lnTo>
                  <a:pt x="10128447" y="10895890"/>
                </a:lnTo>
                <a:lnTo>
                  <a:pt x="0" y="10895890"/>
                </a:lnTo>
                <a:lnTo>
                  <a:pt x="0" y="0"/>
                </a:lnTo>
                <a:close/>
              </a:path>
            </a:pathLst>
          </a:custGeom>
          <a:blipFill>
            <a:blip r:embed="rId2"/>
            <a:stretch>
              <a:fillRect l="-157" t="0" r="-157" b="0"/>
            </a:stretch>
          </a:blipFill>
        </p:spPr>
      </p:sp>
      <p:sp>
        <p:nvSpPr>
          <p:cNvPr name="Freeform 3" id="3"/>
          <p:cNvSpPr/>
          <p:nvPr/>
        </p:nvSpPr>
        <p:spPr>
          <a:xfrm flipH="false" flipV="false" rot="0">
            <a:off x="-2280473" y="7962921"/>
            <a:ext cx="5747719" cy="3384081"/>
          </a:xfrm>
          <a:custGeom>
            <a:avLst/>
            <a:gdLst/>
            <a:ahLst/>
            <a:cxnLst/>
            <a:rect r="r" b="b" t="t" l="l"/>
            <a:pathLst>
              <a:path h="3384081" w="5747719">
                <a:moveTo>
                  <a:pt x="0" y="0"/>
                </a:moveTo>
                <a:lnTo>
                  <a:pt x="5747720" y="0"/>
                </a:lnTo>
                <a:lnTo>
                  <a:pt x="5747720" y="3384080"/>
                </a:lnTo>
                <a:lnTo>
                  <a:pt x="0" y="3384080"/>
                </a:lnTo>
                <a:lnTo>
                  <a:pt x="0" y="0"/>
                </a:lnTo>
                <a:close/>
              </a:path>
            </a:pathLst>
          </a:custGeom>
          <a:blipFill>
            <a:blip r:embed="rId3"/>
            <a:stretch>
              <a:fillRect l="-18302" t="0" r="0" b="-143185"/>
            </a:stretch>
          </a:blipFill>
        </p:spPr>
      </p:sp>
      <p:sp>
        <p:nvSpPr>
          <p:cNvPr name="Freeform 4" id="4"/>
          <p:cNvSpPr/>
          <p:nvPr/>
        </p:nvSpPr>
        <p:spPr>
          <a:xfrm flipH="false" flipV="false" rot="0">
            <a:off x="268182" y="1160695"/>
            <a:ext cx="557641" cy="557641"/>
          </a:xfrm>
          <a:custGeom>
            <a:avLst/>
            <a:gdLst/>
            <a:ahLst/>
            <a:cxnLst/>
            <a:rect r="r" b="b" t="t" l="l"/>
            <a:pathLst>
              <a:path h="557641" w="557641">
                <a:moveTo>
                  <a:pt x="0" y="0"/>
                </a:moveTo>
                <a:lnTo>
                  <a:pt x="557640" y="0"/>
                </a:lnTo>
                <a:lnTo>
                  <a:pt x="557640" y="557641"/>
                </a:lnTo>
                <a:lnTo>
                  <a:pt x="0" y="5576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2116607"/>
            <a:ext cx="10156689" cy="7973695"/>
          </a:xfrm>
          <a:prstGeom prst="rect">
            <a:avLst/>
          </a:prstGeom>
        </p:spPr>
        <p:txBody>
          <a:bodyPr anchor="t" rtlCol="false" tIns="0" lIns="0" bIns="0" rIns="0">
            <a:spAutoFit/>
          </a:bodyPr>
          <a:lstStyle/>
          <a:p>
            <a:pPr algn="l">
              <a:lnSpc>
                <a:spcPts val="3219"/>
              </a:lnSpc>
            </a:pPr>
            <a:r>
              <a:rPr lang="en-US" sz="2299">
                <a:solidFill>
                  <a:srgbClr val="E5E1DA"/>
                </a:solidFill>
                <a:latin typeface="Lato"/>
                <a:ea typeface="Lato"/>
                <a:cs typeface="Lato"/>
                <a:sym typeface="Lato"/>
              </a:rPr>
              <a:t>The FISAT Gateway Management System is a comprehensive digital solution designed to enhance student safety and streamline campus entry-exit management. By integrating React.js for the frontend, Node.js and Express.js for the backend, and MongoDB for data storage, the system ensures efficient and secure handling of student movements, visitor records, and administrative monitoring.</a:t>
            </a:r>
          </a:p>
          <a:p>
            <a:pPr algn="l">
              <a:lnSpc>
                <a:spcPts val="3219"/>
              </a:lnSpc>
            </a:pPr>
          </a:p>
          <a:p>
            <a:pPr algn="l">
              <a:lnSpc>
                <a:spcPts val="3219"/>
              </a:lnSpc>
            </a:pPr>
            <a:r>
              <a:rPr lang="en-US" sz="2299">
                <a:solidFill>
                  <a:srgbClr val="E5E1DA"/>
                </a:solidFill>
                <a:latin typeface="Lato"/>
                <a:ea typeface="Lato"/>
                <a:cs typeface="Lato"/>
                <a:sym typeface="Lato"/>
              </a:rPr>
              <a:t>With features such as parental notification and approval, real-time student tracking, visitor management, and automated reporting, the system minimizes manual errors and enhances transparency. The structured approval process ensures that no student leaves the campus without proper authorization, thereby strengthening security measures.</a:t>
            </a:r>
          </a:p>
          <a:p>
            <a:pPr algn="l">
              <a:lnSpc>
                <a:spcPts val="3219"/>
              </a:lnSpc>
            </a:pPr>
          </a:p>
          <a:p>
            <a:pPr algn="l">
              <a:lnSpc>
                <a:spcPts val="3219"/>
              </a:lnSpc>
              <a:spcBef>
                <a:spcPct val="0"/>
              </a:spcBef>
            </a:pPr>
            <a:r>
              <a:rPr lang="en-US" sz="2299">
                <a:solidFill>
                  <a:srgbClr val="E5E1DA"/>
                </a:solidFill>
                <a:latin typeface="Lato"/>
                <a:ea typeface="Lato"/>
                <a:cs typeface="Lato"/>
                <a:sym typeface="Lato"/>
              </a:rPr>
              <a:t>By replacing traditional manual record-keeping with a fully digital and automated system, the FISAT Gateway Management System improves communication between wardens, parents, watchmen, and administrators. This project not only simplifies administrative workflows but also reinforces accountability, making it a reliable and scalable solution for campus security management.</a:t>
            </a:r>
          </a:p>
          <a:p>
            <a:pPr algn="l">
              <a:lnSpc>
                <a:spcPts val="2940"/>
              </a:lnSpc>
              <a:spcBef>
                <a:spcPct val="0"/>
              </a:spcBef>
            </a:pPr>
          </a:p>
        </p:txBody>
      </p:sp>
      <p:sp>
        <p:nvSpPr>
          <p:cNvPr name="TextBox 6" id="6"/>
          <p:cNvSpPr txBox="true"/>
          <p:nvPr/>
        </p:nvSpPr>
        <p:spPr>
          <a:xfrm rot="0">
            <a:off x="1028700" y="1019175"/>
            <a:ext cx="5886506" cy="9239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CONCLUSION</a:t>
            </a:r>
          </a:p>
        </p:txBody>
      </p:sp>
      <p:sp>
        <p:nvSpPr>
          <p:cNvPr name="TextBox 7" id="7"/>
          <p:cNvSpPr txBox="true"/>
          <p:nvPr/>
        </p:nvSpPr>
        <p:spPr>
          <a:xfrm rot="0">
            <a:off x="14411156" y="9191625"/>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6989496">
            <a:off x="-6555668" y="-1436273"/>
            <a:ext cx="11026567" cy="7966695"/>
          </a:xfrm>
          <a:custGeom>
            <a:avLst/>
            <a:gdLst/>
            <a:ahLst/>
            <a:cxnLst/>
            <a:rect r="r" b="b" t="t" l="l"/>
            <a:pathLst>
              <a:path h="7966695" w="11026567">
                <a:moveTo>
                  <a:pt x="0" y="0"/>
                </a:moveTo>
                <a:lnTo>
                  <a:pt x="11026567" y="0"/>
                </a:lnTo>
                <a:lnTo>
                  <a:pt x="11026567" y="7966694"/>
                </a:lnTo>
                <a:lnTo>
                  <a:pt x="0" y="7966694"/>
                </a:lnTo>
                <a:lnTo>
                  <a:pt x="0" y="0"/>
                </a:lnTo>
                <a:close/>
              </a:path>
            </a:pathLst>
          </a:custGeom>
          <a:blipFill>
            <a:blip r:embed="rId2"/>
            <a:stretch>
              <a:fillRect l="0" t="0" r="0" b="0"/>
            </a:stretch>
          </a:blipFill>
        </p:spPr>
      </p:sp>
      <p:sp>
        <p:nvSpPr>
          <p:cNvPr name="Freeform 3" id="3"/>
          <p:cNvSpPr/>
          <p:nvPr/>
        </p:nvSpPr>
        <p:spPr>
          <a:xfrm flipH="false" flipV="false" rot="-2967116">
            <a:off x="8691170" y="1377244"/>
            <a:ext cx="12892802" cy="9575242"/>
          </a:xfrm>
          <a:custGeom>
            <a:avLst/>
            <a:gdLst/>
            <a:ahLst/>
            <a:cxnLst/>
            <a:rect r="r" b="b" t="t" l="l"/>
            <a:pathLst>
              <a:path h="9575242" w="12892802">
                <a:moveTo>
                  <a:pt x="0" y="0"/>
                </a:moveTo>
                <a:lnTo>
                  <a:pt x="12892803" y="0"/>
                </a:lnTo>
                <a:lnTo>
                  <a:pt x="12892803" y="9575242"/>
                </a:lnTo>
                <a:lnTo>
                  <a:pt x="0" y="9575242"/>
                </a:lnTo>
                <a:lnTo>
                  <a:pt x="0" y="0"/>
                </a:lnTo>
                <a:close/>
              </a:path>
            </a:pathLst>
          </a:custGeom>
          <a:blipFill>
            <a:blip r:embed="rId2"/>
            <a:stretch>
              <a:fillRect l="0" t="0" r="-2793" b="0"/>
            </a:stretch>
          </a:blipFill>
        </p:spPr>
      </p:sp>
      <p:sp>
        <p:nvSpPr>
          <p:cNvPr name="TextBox 4" id="4"/>
          <p:cNvSpPr txBox="true"/>
          <p:nvPr/>
        </p:nvSpPr>
        <p:spPr>
          <a:xfrm rot="0">
            <a:off x="1716786" y="1749771"/>
            <a:ext cx="10929935" cy="941070"/>
          </a:xfrm>
          <a:prstGeom prst="rect">
            <a:avLst/>
          </a:prstGeom>
        </p:spPr>
        <p:txBody>
          <a:bodyPr anchor="t" rtlCol="false" tIns="0" lIns="0" bIns="0" rIns="0">
            <a:spAutoFit/>
          </a:bodyPr>
          <a:lstStyle/>
          <a:p>
            <a:pPr algn="l">
              <a:lnSpc>
                <a:spcPts val="3779"/>
              </a:lnSpc>
              <a:spcBef>
                <a:spcPct val="0"/>
              </a:spcBef>
            </a:pPr>
            <a:r>
              <a:rPr lang="en-US" sz="2700">
                <a:solidFill>
                  <a:srgbClr val="E5E1DA"/>
                </a:solidFill>
                <a:latin typeface="Lato"/>
                <a:ea typeface="Lato"/>
                <a:cs typeface="Lato"/>
                <a:sym typeface="Lato"/>
              </a:rPr>
              <a:t>&gt;&gt;</a:t>
            </a:r>
            <a:r>
              <a:rPr lang="en-US" b="true" sz="2700">
                <a:solidFill>
                  <a:srgbClr val="E5E1DA"/>
                </a:solidFill>
                <a:latin typeface="Lato Bold"/>
                <a:ea typeface="Lato Bold"/>
                <a:cs typeface="Lato Bold"/>
                <a:sym typeface="Lato Bold"/>
              </a:rPr>
              <a:t>Database Management Systems </a:t>
            </a:r>
            <a:r>
              <a:rPr lang="en-US" sz="2700">
                <a:solidFill>
                  <a:srgbClr val="E5E1DA"/>
                </a:solidFill>
                <a:latin typeface="Lato"/>
                <a:ea typeface="Lato"/>
                <a:cs typeface="Lato"/>
                <a:sym typeface="Lato"/>
              </a:rPr>
              <a:t>– Korth, Silberschatz, Sudarshan (Concepts and applications of database systems).</a:t>
            </a:r>
          </a:p>
        </p:txBody>
      </p:sp>
      <p:sp>
        <p:nvSpPr>
          <p:cNvPr name="TextBox 5" id="5"/>
          <p:cNvSpPr txBox="true"/>
          <p:nvPr/>
        </p:nvSpPr>
        <p:spPr>
          <a:xfrm rot="0">
            <a:off x="1716786" y="3138516"/>
            <a:ext cx="10929935" cy="3798570"/>
          </a:xfrm>
          <a:prstGeom prst="rect">
            <a:avLst/>
          </a:prstGeom>
        </p:spPr>
        <p:txBody>
          <a:bodyPr anchor="t" rtlCol="false" tIns="0" lIns="0" bIns="0" rIns="0">
            <a:spAutoFit/>
          </a:bodyPr>
          <a:lstStyle/>
          <a:p>
            <a:pPr algn="l">
              <a:lnSpc>
                <a:spcPts val="3779"/>
              </a:lnSpc>
            </a:pPr>
            <a:r>
              <a:rPr lang="en-US" sz="2700" spc="135">
                <a:solidFill>
                  <a:srgbClr val="E5E1DA"/>
                </a:solidFill>
                <a:latin typeface="Lato"/>
                <a:ea typeface="Lato"/>
                <a:cs typeface="Lato"/>
                <a:sym typeface="Lato"/>
              </a:rPr>
              <a:t>&gt;&gt;"Vi</a:t>
            </a:r>
            <a:r>
              <a:rPr lang="en-US" sz="2700" spc="135">
                <a:solidFill>
                  <a:srgbClr val="E5E1DA"/>
                </a:solidFill>
                <a:latin typeface="Lato"/>
                <a:ea typeface="Lato"/>
                <a:cs typeface="Lato"/>
                <a:sym typeface="Lato"/>
              </a:rPr>
              <a:t>s</a:t>
            </a:r>
            <a:r>
              <a:rPr lang="en-US" sz="2700" spc="135">
                <a:solidFill>
                  <a:srgbClr val="E5E1DA"/>
                </a:solidFill>
                <a:latin typeface="Lato"/>
                <a:ea typeface="Lato"/>
                <a:cs typeface="Lato"/>
                <a:sym typeface="Lato"/>
              </a:rPr>
              <a:t>itor</a:t>
            </a:r>
            <a:r>
              <a:rPr lang="en-US" sz="2700" spc="135">
                <a:solidFill>
                  <a:srgbClr val="E5E1DA"/>
                </a:solidFill>
                <a:latin typeface="Lato"/>
                <a:ea typeface="Lato"/>
                <a:cs typeface="Lato"/>
                <a:sym typeface="Lato"/>
              </a:rPr>
              <a:t> Management System</a:t>
            </a:r>
            <a:r>
              <a:rPr lang="en-US" sz="2700" spc="135">
                <a:solidFill>
                  <a:srgbClr val="E5E1DA"/>
                </a:solidFill>
                <a:latin typeface="Lato"/>
                <a:ea typeface="Lato"/>
                <a:cs typeface="Lato"/>
                <a:sym typeface="Lato"/>
              </a:rPr>
              <a:t> De</a:t>
            </a:r>
            <a:r>
              <a:rPr lang="en-US" sz="2700" spc="135">
                <a:solidFill>
                  <a:srgbClr val="E5E1DA"/>
                </a:solidFill>
                <a:latin typeface="Lato"/>
                <a:ea typeface="Lato"/>
                <a:cs typeface="Lato"/>
                <a:sym typeface="Lato"/>
              </a:rPr>
              <a:t>s</a:t>
            </a:r>
            <a:r>
              <a:rPr lang="en-US" sz="2700" spc="135">
                <a:solidFill>
                  <a:srgbClr val="E5E1DA"/>
                </a:solidFill>
                <a:latin typeface="Lato"/>
                <a:ea typeface="Lato"/>
                <a:cs typeface="Lato"/>
                <a:sym typeface="Lato"/>
              </a:rPr>
              <a:t>ign</a:t>
            </a:r>
            <a:r>
              <a:rPr lang="en-US" sz="2700" spc="135">
                <a:solidFill>
                  <a:srgbClr val="E5E1DA"/>
                </a:solidFill>
                <a:latin typeface="Lato"/>
                <a:ea typeface="Lato"/>
                <a:cs typeface="Lato"/>
                <a:sym typeface="Lato"/>
              </a:rPr>
              <a:t> </a:t>
            </a:r>
            <a:r>
              <a:rPr lang="en-US" sz="2700" spc="135">
                <a:solidFill>
                  <a:srgbClr val="E5E1DA"/>
                </a:solidFill>
                <a:latin typeface="Lato"/>
                <a:ea typeface="Lato"/>
                <a:cs typeface="Lato"/>
                <a:sym typeface="Lato"/>
              </a:rPr>
              <a:t>and Implementation during </a:t>
            </a:r>
          </a:p>
          <a:p>
            <a:pPr algn="l">
              <a:lnSpc>
                <a:spcPts val="3779"/>
              </a:lnSpc>
            </a:pPr>
            <a:r>
              <a:rPr lang="en-US" sz="2700" spc="135">
                <a:solidFill>
                  <a:srgbClr val="E5E1DA"/>
                </a:solidFill>
                <a:latin typeface="Lato"/>
                <a:ea typeface="Lato"/>
                <a:cs typeface="Lato"/>
                <a:sym typeface="Lato"/>
              </a:rPr>
              <a:t> the Covid-19 Pandemic" </a:t>
            </a:r>
          </a:p>
          <a:p>
            <a:pPr algn="l" marL="582930" indent="-291465" lvl="1">
              <a:lnSpc>
                <a:spcPts val="3779"/>
              </a:lnSpc>
              <a:buFont typeface="Arial"/>
              <a:buChar char="•"/>
            </a:pPr>
            <a:r>
              <a:rPr lang="en-US" sz="2700">
                <a:solidFill>
                  <a:srgbClr val="E5E1DA"/>
                </a:solidFill>
                <a:latin typeface="Lato"/>
                <a:ea typeface="Lato"/>
                <a:cs typeface="Lato"/>
                <a:sym typeface="Lato"/>
              </a:rPr>
              <a:t>Authors: Mohammed A. Al-Kabi, et al. </a:t>
            </a:r>
          </a:p>
          <a:p>
            <a:pPr algn="l" marL="582930" indent="-291465" lvl="1">
              <a:lnSpc>
                <a:spcPts val="3779"/>
              </a:lnSpc>
              <a:buFont typeface="Arial"/>
              <a:buChar char="•"/>
            </a:pPr>
            <a:r>
              <a:rPr lang="en-US" sz="2700">
                <a:solidFill>
                  <a:srgbClr val="E5E1DA"/>
                </a:solidFill>
                <a:latin typeface="Lato"/>
                <a:ea typeface="Lato"/>
                <a:cs typeface="Lato"/>
                <a:sym typeface="Lato"/>
              </a:rPr>
              <a:t>Source: ResearchGate </a:t>
            </a:r>
          </a:p>
          <a:p>
            <a:pPr algn="l" marL="582930" indent="-291465" lvl="1">
              <a:lnSpc>
                <a:spcPts val="3779"/>
              </a:lnSpc>
              <a:buFont typeface="Arial"/>
              <a:buChar char="•"/>
            </a:pPr>
            <a:r>
              <a:rPr lang="en-US" sz="2700">
                <a:solidFill>
                  <a:srgbClr val="E5E1DA"/>
                </a:solidFill>
                <a:latin typeface="Lato"/>
                <a:ea typeface="Lato"/>
                <a:cs typeface="Lato"/>
                <a:sym typeface="Lato"/>
              </a:rPr>
              <a:t>Summary: This paper discusses the design and implementation </a:t>
            </a:r>
          </a:p>
          <a:p>
            <a:pPr algn="l">
              <a:lnSpc>
                <a:spcPts val="3779"/>
              </a:lnSpc>
            </a:pPr>
            <a:r>
              <a:rPr lang="en-US" sz="2700" spc="135">
                <a:solidFill>
                  <a:srgbClr val="E5E1DA"/>
                </a:solidFill>
                <a:latin typeface="Lato"/>
                <a:ea typeface="Lato"/>
                <a:cs typeface="Lato"/>
                <a:sym typeface="Lato"/>
              </a:rPr>
              <a:t> of a Visitor Management System (VMS) aimed at synchron</a:t>
            </a:r>
          </a:p>
          <a:p>
            <a:pPr algn="l">
              <a:lnSpc>
                <a:spcPts val="3779"/>
              </a:lnSpc>
              <a:spcBef>
                <a:spcPct val="0"/>
              </a:spcBef>
            </a:pPr>
          </a:p>
        </p:txBody>
      </p:sp>
      <p:sp>
        <p:nvSpPr>
          <p:cNvPr name="TextBox 6" id="6"/>
          <p:cNvSpPr txBox="true"/>
          <p:nvPr/>
        </p:nvSpPr>
        <p:spPr>
          <a:xfrm rot="0">
            <a:off x="1843965" y="6879936"/>
            <a:ext cx="10929935" cy="3322320"/>
          </a:xfrm>
          <a:prstGeom prst="rect">
            <a:avLst/>
          </a:prstGeom>
        </p:spPr>
        <p:txBody>
          <a:bodyPr anchor="t" rtlCol="false" tIns="0" lIns="0" bIns="0" rIns="0">
            <a:spAutoFit/>
          </a:bodyPr>
          <a:lstStyle/>
          <a:p>
            <a:pPr algn="l">
              <a:lnSpc>
                <a:spcPts val="3779"/>
              </a:lnSpc>
            </a:pPr>
            <a:r>
              <a:rPr lang="en-US" sz="2700" spc="135">
                <a:solidFill>
                  <a:srgbClr val="E5E1DA"/>
                </a:solidFill>
                <a:latin typeface="Lato"/>
                <a:ea typeface="Lato"/>
                <a:cs typeface="Lato"/>
                <a:sym typeface="Lato"/>
              </a:rPr>
              <a:t>&gt;&gt;"De</a:t>
            </a:r>
            <a:r>
              <a:rPr lang="en-US" sz="2700" spc="135">
                <a:solidFill>
                  <a:srgbClr val="E5E1DA"/>
                </a:solidFill>
                <a:latin typeface="Lato"/>
                <a:ea typeface="Lato"/>
                <a:cs typeface="Lato"/>
                <a:sym typeface="Lato"/>
              </a:rPr>
              <a:t>s</a:t>
            </a:r>
            <a:r>
              <a:rPr lang="en-US" sz="2700" spc="135">
                <a:solidFill>
                  <a:srgbClr val="E5E1DA"/>
                </a:solidFill>
                <a:latin typeface="Lato"/>
                <a:ea typeface="Lato"/>
                <a:cs typeface="Lato"/>
                <a:sym typeface="Lato"/>
              </a:rPr>
              <a:t>ign</a:t>
            </a:r>
            <a:r>
              <a:rPr lang="en-US" sz="2700" spc="135">
                <a:solidFill>
                  <a:srgbClr val="E5E1DA"/>
                </a:solidFill>
                <a:latin typeface="Lato"/>
                <a:ea typeface="Lato"/>
                <a:cs typeface="Lato"/>
                <a:sym typeface="Lato"/>
              </a:rPr>
              <a:t> </a:t>
            </a:r>
            <a:r>
              <a:rPr lang="en-US" sz="2700" spc="135">
                <a:solidFill>
                  <a:srgbClr val="E5E1DA"/>
                </a:solidFill>
                <a:latin typeface="Lato"/>
                <a:ea typeface="Lato"/>
                <a:cs typeface="Lato"/>
                <a:sym typeface="Lato"/>
              </a:rPr>
              <a:t>and Implementation of Hostel Management System"</a:t>
            </a:r>
          </a:p>
          <a:p>
            <a:pPr algn="l">
              <a:lnSpc>
                <a:spcPts val="3779"/>
              </a:lnSpc>
            </a:pPr>
          </a:p>
          <a:p>
            <a:pPr algn="l" marL="582930" indent="-291465" lvl="1">
              <a:lnSpc>
                <a:spcPts val="3779"/>
              </a:lnSpc>
              <a:buFont typeface="Arial"/>
              <a:buChar char="•"/>
            </a:pPr>
            <a:r>
              <a:rPr lang="en-US" sz="2700" spc="135">
                <a:solidFill>
                  <a:srgbClr val="E5E1DA"/>
                </a:solidFill>
                <a:latin typeface="Lato"/>
                <a:ea typeface="Lato"/>
                <a:cs typeface="Lato"/>
                <a:sym typeface="Lato"/>
              </a:rPr>
              <a:t>Authors: J. A. Shittu, et al.</a:t>
            </a:r>
          </a:p>
          <a:p>
            <a:pPr algn="l" marL="582930" indent="-291465" lvl="1">
              <a:lnSpc>
                <a:spcPts val="3779"/>
              </a:lnSpc>
              <a:buFont typeface="Arial"/>
              <a:buChar char="•"/>
            </a:pPr>
            <a:r>
              <a:rPr lang="en-US" sz="2700" spc="135">
                <a:solidFill>
                  <a:srgbClr val="E5E1DA"/>
                </a:solidFill>
                <a:latin typeface="Lato"/>
                <a:ea typeface="Lato"/>
                <a:cs typeface="Lato"/>
                <a:sym typeface="Lato"/>
              </a:rPr>
              <a:t>Source: International Journal of Computer Applications</a:t>
            </a:r>
          </a:p>
          <a:p>
            <a:pPr algn="l" marL="582930" indent="-291465" lvl="1">
              <a:lnSpc>
                <a:spcPts val="3779"/>
              </a:lnSpc>
              <a:buFont typeface="Arial"/>
              <a:buChar char="•"/>
            </a:pPr>
            <a:r>
              <a:rPr lang="en-US" sz="2700" spc="135">
                <a:solidFill>
                  <a:srgbClr val="E5E1DA"/>
                </a:solidFill>
                <a:latin typeface="Lato"/>
                <a:ea typeface="Lato"/>
                <a:cs typeface="Lato"/>
                <a:sym typeface="Lato"/>
              </a:rPr>
              <a:t>Summary: Explores the implementation of a digital solution to </a:t>
            </a:r>
          </a:p>
          <a:p>
            <a:pPr algn="l">
              <a:lnSpc>
                <a:spcPts val="3779"/>
              </a:lnSpc>
            </a:pPr>
            <a:r>
              <a:rPr lang="en-US" sz="2700" spc="135">
                <a:solidFill>
                  <a:srgbClr val="E5E1DA"/>
                </a:solidFill>
                <a:latin typeface="Lato"/>
                <a:ea typeface="Lato"/>
                <a:cs typeface="Lato"/>
                <a:sym typeface="Lato"/>
              </a:rPr>
              <a:t> manage hostel operations effectively.</a:t>
            </a:r>
          </a:p>
          <a:p>
            <a:pPr algn="l">
              <a:lnSpc>
                <a:spcPts val="3779"/>
              </a:lnSpc>
              <a:spcBef>
                <a:spcPct val="0"/>
              </a:spcBef>
            </a:pPr>
          </a:p>
        </p:txBody>
      </p:sp>
      <p:grpSp>
        <p:nvGrpSpPr>
          <p:cNvPr name="Group 7" id="7"/>
          <p:cNvGrpSpPr/>
          <p:nvPr/>
        </p:nvGrpSpPr>
        <p:grpSpPr>
          <a:xfrm rot="0">
            <a:off x="2527765" y="443004"/>
            <a:ext cx="9773028" cy="839660"/>
            <a:chOff x="0" y="0"/>
            <a:chExt cx="2573966" cy="221145"/>
          </a:xfrm>
        </p:grpSpPr>
        <p:sp>
          <p:nvSpPr>
            <p:cNvPr name="Freeform 8" id="8"/>
            <p:cNvSpPr/>
            <p:nvPr/>
          </p:nvSpPr>
          <p:spPr>
            <a:xfrm flipH="false" flipV="false" rot="0">
              <a:off x="0" y="0"/>
              <a:ext cx="2573966" cy="221145"/>
            </a:xfrm>
            <a:custGeom>
              <a:avLst/>
              <a:gdLst/>
              <a:ahLst/>
              <a:cxnLst/>
              <a:rect r="r" b="b" t="t" l="l"/>
              <a:pathLst>
                <a:path h="221145" w="2573966">
                  <a:moveTo>
                    <a:pt x="47530" y="0"/>
                  </a:moveTo>
                  <a:lnTo>
                    <a:pt x="2526436" y="0"/>
                  </a:lnTo>
                  <a:cubicBezTo>
                    <a:pt x="2539042" y="0"/>
                    <a:pt x="2551131" y="5008"/>
                    <a:pt x="2560045" y="13921"/>
                  </a:cubicBezTo>
                  <a:cubicBezTo>
                    <a:pt x="2568959" y="22835"/>
                    <a:pt x="2573966" y="34924"/>
                    <a:pt x="2573966" y="47530"/>
                  </a:cubicBezTo>
                  <a:lnTo>
                    <a:pt x="2573966" y="173615"/>
                  </a:lnTo>
                  <a:cubicBezTo>
                    <a:pt x="2573966" y="186220"/>
                    <a:pt x="2568959" y="198310"/>
                    <a:pt x="2560045" y="207224"/>
                  </a:cubicBezTo>
                  <a:cubicBezTo>
                    <a:pt x="2551131" y="216137"/>
                    <a:pt x="2539042" y="221145"/>
                    <a:pt x="2526436" y="221145"/>
                  </a:cubicBezTo>
                  <a:lnTo>
                    <a:pt x="47530" y="221145"/>
                  </a:lnTo>
                  <a:cubicBezTo>
                    <a:pt x="34924" y="221145"/>
                    <a:pt x="22835" y="216137"/>
                    <a:pt x="13921" y="207224"/>
                  </a:cubicBezTo>
                  <a:cubicBezTo>
                    <a:pt x="5008" y="198310"/>
                    <a:pt x="0" y="186220"/>
                    <a:pt x="0" y="173615"/>
                  </a:cubicBezTo>
                  <a:lnTo>
                    <a:pt x="0" y="47530"/>
                  </a:lnTo>
                  <a:cubicBezTo>
                    <a:pt x="0" y="34924"/>
                    <a:pt x="5008" y="22835"/>
                    <a:pt x="13921" y="13921"/>
                  </a:cubicBezTo>
                  <a:cubicBezTo>
                    <a:pt x="22835" y="5008"/>
                    <a:pt x="34924" y="0"/>
                    <a:pt x="47530" y="0"/>
                  </a:cubicBezTo>
                  <a:close/>
                </a:path>
              </a:pathLst>
            </a:custGeom>
            <a:solidFill>
              <a:srgbClr val="000000"/>
            </a:solidFill>
            <a:ln w="38100" cap="rnd">
              <a:solidFill>
                <a:srgbClr val="E5E1DA"/>
              </a:solidFill>
              <a:prstDash val="solid"/>
              <a:round/>
            </a:ln>
          </p:spPr>
        </p:sp>
        <p:sp>
          <p:nvSpPr>
            <p:cNvPr name="TextBox 9" id="9"/>
            <p:cNvSpPr txBox="true"/>
            <p:nvPr/>
          </p:nvSpPr>
          <p:spPr>
            <a:xfrm>
              <a:off x="0" y="-38100"/>
              <a:ext cx="2573966" cy="259245"/>
            </a:xfrm>
            <a:prstGeom prst="rect">
              <a:avLst/>
            </a:prstGeom>
          </p:spPr>
          <p:txBody>
            <a:bodyPr anchor="ctr" rtlCol="false" tIns="50800" lIns="50800" bIns="50800" rIns="50800"/>
            <a:lstStyle/>
            <a:p>
              <a:pPr algn="ctr">
                <a:lnSpc>
                  <a:spcPts val="2799"/>
                </a:lnSpc>
              </a:pPr>
            </a:p>
          </p:txBody>
        </p:sp>
      </p:grpSp>
      <p:sp>
        <p:nvSpPr>
          <p:cNvPr name="Freeform 10" id="10"/>
          <p:cNvSpPr/>
          <p:nvPr/>
        </p:nvSpPr>
        <p:spPr>
          <a:xfrm flipH="false" flipV="false" rot="0">
            <a:off x="2812893" y="642723"/>
            <a:ext cx="440221" cy="440221"/>
          </a:xfrm>
          <a:custGeom>
            <a:avLst/>
            <a:gdLst/>
            <a:ahLst/>
            <a:cxnLst/>
            <a:rect r="r" b="b" t="t" l="l"/>
            <a:pathLst>
              <a:path h="440221" w="440221">
                <a:moveTo>
                  <a:pt x="0" y="0"/>
                </a:moveTo>
                <a:lnTo>
                  <a:pt x="440221" y="0"/>
                </a:lnTo>
                <a:lnTo>
                  <a:pt x="440221" y="440221"/>
                </a:lnTo>
                <a:lnTo>
                  <a:pt x="0" y="4402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2527765" y="520695"/>
            <a:ext cx="5510519" cy="693803"/>
          </a:xfrm>
          <a:prstGeom prst="rect">
            <a:avLst/>
          </a:prstGeom>
        </p:spPr>
        <p:txBody>
          <a:bodyPr anchor="t" rtlCol="false" tIns="0" lIns="0" bIns="0" rIns="0">
            <a:spAutoFit/>
          </a:bodyPr>
          <a:lstStyle/>
          <a:p>
            <a:pPr algn="ctr">
              <a:lnSpc>
                <a:spcPts val="5097"/>
              </a:lnSpc>
            </a:pPr>
            <a:r>
              <a:rPr lang="en-US" b="true" sz="4634">
                <a:solidFill>
                  <a:srgbClr val="FBF9F1"/>
                </a:solidFill>
                <a:latin typeface="Poppins Bold"/>
                <a:ea typeface="Poppins Bold"/>
                <a:cs typeface="Poppins Bold"/>
                <a:sym typeface="Poppins Bold"/>
              </a:rPr>
              <a:t>REFERENCES</a:t>
            </a:r>
          </a:p>
        </p:txBody>
      </p:sp>
      <p:sp>
        <p:nvSpPr>
          <p:cNvPr name="TextBox 12" id="12"/>
          <p:cNvSpPr txBox="true"/>
          <p:nvPr/>
        </p:nvSpPr>
        <p:spPr>
          <a:xfrm rot="0">
            <a:off x="14357401" y="9323410"/>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25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2100837">
            <a:off x="8982673" y="428119"/>
            <a:ext cx="8310061" cy="8781453"/>
          </a:xfrm>
          <a:custGeom>
            <a:avLst/>
            <a:gdLst/>
            <a:ahLst/>
            <a:cxnLst/>
            <a:rect r="r" b="b" t="t" l="l"/>
            <a:pathLst>
              <a:path h="8781453" w="8310061">
                <a:moveTo>
                  <a:pt x="8310061" y="0"/>
                </a:moveTo>
                <a:lnTo>
                  <a:pt x="0" y="0"/>
                </a:lnTo>
                <a:lnTo>
                  <a:pt x="0" y="8781453"/>
                </a:lnTo>
                <a:lnTo>
                  <a:pt x="8310061" y="8781453"/>
                </a:lnTo>
                <a:lnTo>
                  <a:pt x="8310061" y="0"/>
                </a:lnTo>
                <a:close/>
              </a:path>
            </a:pathLst>
          </a:custGeom>
          <a:blipFill>
            <a:blip r:embed="rId2"/>
            <a:stretch>
              <a:fillRect l="0" t="0" r="-381" b="-1869"/>
            </a:stretch>
          </a:blipFill>
        </p:spPr>
      </p:sp>
      <p:sp>
        <p:nvSpPr>
          <p:cNvPr name="Freeform 3" id="3"/>
          <p:cNvSpPr/>
          <p:nvPr/>
        </p:nvSpPr>
        <p:spPr>
          <a:xfrm flipH="false" flipV="false" rot="0">
            <a:off x="346685" y="4615071"/>
            <a:ext cx="528429" cy="528429"/>
          </a:xfrm>
          <a:custGeom>
            <a:avLst/>
            <a:gdLst/>
            <a:ahLst/>
            <a:cxnLst/>
            <a:rect r="r" b="b" t="t" l="l"/>
            <a:pathLst>
              <a:path h="528429" w="528429">
                <a:moveTo>
                  <a:pt x="0" y="0"/>
                </a:moveTo>
                <a:lnTo>
                  <a:pt x="528429" y="0"/>
                </a:lnTo>
                <a:lnTo>
                  <a:pt x="528429" y="528429"/>
                </a:lnTo>
                <a:lnTo>
                  <a:pt x="0" y="5284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155436" y="3717065"/>
            <a:ext cx="11411477" cy="2203560"/>
          </a:xfrm>
          <a:prstGeom prst="rect">
            <a:avLst/>
          </a:prstGeom>
        </p:spPr>
        <p:txBody>
          <a:bodyPr anchor="t" rtlCol="false" tIns="0" lIns="0" bIns="0" rIns="0">
            <a:spAutoFit/>
          </a:bodyPr>
          <a:lstStyle/>
          <a:p>
            <a:pPr algn="l">
              <a:lnSpc>
                <a:spcPts val="15959"/>
              </a:lnSpc>
            </a:pPr>
            <a:r>
              <a:rPr lang="en-US" sz="14508" b="true">
                <a:solidFill>
                  <a:srgbClr val="FBF9F1"/>
                </a:solidFill>
                <a:latin typeface="Poppins Bold"/>
                <a:ea typeface="Poppins Bold"/>
                <a:cs typeface="Poppins Bold"/>
                <a:sym typeface="Poppins Bold"/>
              </a:rPr>
              <a:t>THANK YOU</a:t>
            </a:r>
            <a:r>
              <a:rPr lang="en-US" sz="14508" b="true">
                <a:solidFill>
                  <a:srgbClr val="FBF9F1"/>
                </a:solidFill>
                <a:latin typeface="Poppins Bold"/>
                <a:ea typeface="Poppins Bold"/>
                <a:cs typeface="Poppins Bold"/>
                <a:sym typeface="Poppins Bold"/>
              </a:rPr>
              <a:t> </a:t>
            </a:r>
          </a:p>
        </p:txBody>
      </p:sp>
      <p:sp>
        <p:nvSpPr>
          <p:cNvPr name="TextBox 5" id="5"/>
          <p:cNvSpPr txBox="true"/>
          <p:nvPr/>
        </p:nvSpPr>
        <p:spPr>
          <a:xfrm rot="0">
            <a:off x="14489185" y="9393348"/>
            <a:ext cx="6155602" cy="694568"/>
          </a:xfrm>
          <a:prstGeom prst="rect">
            <a:avLst/>
          </a:prstGeom>
        </p:spPr>
        <p:txBody>
          <a:bodyPr anchor="t" rtlCol="false" tIns="0" lIns="0" bIns="0" rIns="0">
            <a:spAutoFit/>
          </a:bodyPr>
          <a:lstStyle/>
          <a:p>
            <a:pPr algn="ctr">
              <a:lnSpc>
                <a:spcPts val="5772"/>
              </a:lnSpc>
            </a:pPr>
            <a:r>
              <a:rPr lang="en-US" sz="4123" b="true">
                <a:solidFill>
                  <a:srgbClr val="FFFFFF"/>
                </a:solidFill>
                <a:latin typeface="Canva Sans Bold"/>
                <a:ea typeface="Canva Sans Bold"/>
                <a:cs typeface="Canva Sans Bold"/>
                <a:sym typeface="Canva Sans Bold"/>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DAGhc14eHMM</dc:identifier>
  <dcterms:modified xsi:type="dcterms:W3CDTF">2011-08-01T06:04:30Z</dcterms:modified>
  <cp:revision>1</cp:revision>
  <dc:title>FIsat gatewaymanagement system</dc:title>
</cp:coreProperties>
</file>